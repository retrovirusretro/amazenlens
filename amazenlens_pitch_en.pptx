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946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r>
              <a:rPr lang="tr-TR" sz="1000" b="0" i="0" u="none" strike="noStrike">
                <a:solidFill>
                  <a:srgbClr val="64748B"/>
                </a:solidFill>
                <a:latin typeface="Arial"/>
              </a:rPr>
              <a:t>Monthly Recurring Revenue (USD)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MRR (USD)</c:v>
                </c:pt>
              </c:strCache>
            </c:strRef>
          </c:tx>
          <c:spPr>
            <a:solidFill>
              <a:srgbClr val="6C63F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F1F5F9"/>
                    </a:solidFill>
                    <a:latin typeface="Arial"/>
                  </a:defRPr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M3</c:v>
                </c:pt>
                <c:pt idx="1">
                  <c:v>M6</c:v>
                </c:pt>
                <c:pt idx="2">
                  <c:v>M9</c:v>
                </c:pt>
                <c:pt idx="3">
                  <c:v>M12</c:v>
                </c:pt>
                <c:pt idx="4">
                  <c:v>M15</c:v>
                </c:pt>
                <c:pt idx="5">
                  <c:v>M18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500</c:v>
                </c:pt>
                <c:pt idx="1">
                  <c:v>3000</c:v>
                </c:pt>
                <c:pt idx="2">
                  <c:v>10000</c:v>
                </c:pt>
                <c:pt idx="3">
                  <c:v>22000</c:v>
                </c:pt>
                <c:pt idx="4">
                  <c:v>38000</c:v>
                </c:pt>
                <c:pt idx="5">
                  <c:v>60000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5B3-47CA-9C1F-B52514C5390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293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11827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342835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6C63F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0D1B35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6217920" y="-457200"/>
            <a:ext cx="2926080" cy="2926080"/>
          </a:xfrm>
          <a:prstGeom prst="ellipse">
            <a:avLst/>
          </a:prstGeom>
          <a:solidFill>
            <a:srgbClr val="6C63FF">
              <a:alpha val="12000"/>
            </a:srgbClr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6858000" y="457200"/>
            <a:ext cx="1828800" cy="1828800"/>
          </a:xfrm>
          <a:prstGeom prst="ellipse">
            <a:avLst/>
          </a:prstGeom>
          <a:solidFill>
            <a:srgbClr val="0EA5E9">
              <a:alpha val="10000"/>
            </a:srgbClr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457200" y="822960"/>
            <a:ext cx="2560320" cy="292608"/>
          </a:xfrm>
          <a:prstGeom prst="roundRect">
            <a:avLst>
              <a:gd name="adj" fmla="val 25000"/>
            </a:avLst>
          </a:prstGeom>
          <a:solidFill>
            <a:srgbClr val="6C63FF">
              <a:alpha val="25000"/>
            </a:srgbClr>
          </a:solidFill>
          <a:ln w="6350">
            <a:solidFill>
              <a:srgbClr val="6C63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83FF"/>
                </a:solidFill>
              </a:rPr>
              <a:t>AI-Powered Amazon Research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20040" y="123444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kern="0" spc="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AmazenLens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320040" y="233172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winning products before your competitors do.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320040" y="3017520"/>
            <a:ext cx="1554480" cy="777240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320040" y="3035808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B83FF"/>
                </a:solidFill>
              </a:rPr>
              <a:t>$45B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20040" y="33832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Global TAM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148840" y="3017520"/>
            <a:ext cx="1554480" cy="777240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2148840" y="3035808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B83FF"/>
                </a:solidFill>
              </a:rPr>
              <a:t>10M+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148840" y="33832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Amazon Sellers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977640" y="3017520"/>
            <a:ext cx="1554480" cy="777240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3977640" y="3035808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B83FF"/>
                </a:solidFill>
              </a:rPr>
              <a:t>$19/mo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977640" y="33832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Starting Price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50B14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Istanbul, Turkey  ·  2025  ·  Pre-Seed Round  ·  gokhan@amazenlens.com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53E3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320040" y="25603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E53E3E"/>
                </a:solidFill>
              </a:rPr>
              <a:t>THE PROBLEM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sellers are flying blind.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20040" y="126187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</a:rPr>
              <a:t>Millions of sellers research products manually, wasting weeks — only to launch into saturated niches with no profit left.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965960"/>
            <a:ext cx="4114800" cy="1097280"/>
          </a:xfrm>
          <a:prstGeom prst="rect">
            <a:avLst/>
          </a:prstGeom>
          <a:solidFill>
            <a:srgbClr val="111827"/>
          </a:solidFill>
          <a:ln w="10160">
            <a:solidFill>
              <a:srgbClr val="3D15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Shape 5"/>
          <p:cNvSpPr/>
          <p:nvPr/>
        </p:nvSpPr>
        <p:spPr>
          <a:xfrm>
            <a:off x="320040" y="1965960"/>
            <a:ext cx="54864" cy="1097280"/>
          </a:xfrm>
          <a:prstGeom prst="rect">
            <a:avLst/>
          </a:prstGeom>
          <a:solidFill>
            <a:srgbClr val="E53E3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484632" y="213055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F5F9"/>
                </a:solidFill>
              </a:rPr>
              <a:t>⏱  40+ hours/week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4632" y="244144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Manually researching products across dozens of spreadsheets and tabs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54880" y="1965960"/>
            <a:ext cx="4114800" cy="1097280"/>
          </a:xfrm>
          <a:prstGeom prst="rect">
            <a:avLst/>
          </a:prstGeom>
          <a:solidFill>
            <a:srgbClr val="111827"/>
          </a:solidFill>
          <a:ln w="10160">
            <a:solidFill>
              <a:srgbClr val="3D15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Shape 9"/>
          <p:cNvSpPr/>
          <p:nvPr/>
        </p:nvSpPr>
        <p:spPr>
          <a:xfrm>
            <a:off x="4754880" y="1965960"/>
            <a:ext cx="54864" cy="1097280"/>
          </a:xfrm>
          <a:prstGeom prst="rect">
            <a:avLst/>
          </a:prstGeom>
          <a:solidFill>
            <a:srgbClr val="E53E3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4919472" y="213055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F5F9"/>
                </a:solidFill>
              </a:rPr>
              <a:t>💸  70% failure rate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19472" y="244144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Most new Amazon listings fail within 6 months due to poor niche selection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3291840"/>
            <a:ext cx="4114800" cy="1097280"/>
          </a:xfrm>
          <a:prstGeom prst="rect">
            <a:avLst/>
          </a:prstGeom>
          <a:solidFill>
            <a:srgbClr val="111827"/>
          </a:solidFill>
          <a:ln w="10160">
            <a:solidFill>
              <a:srgbClr val="3D15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Shape 13"/>
          <p:cNvSpPr/>
          <p:nvPr/>
        </p:nvSpPr>
        <p:spPr>
          <a:xfrm>
            <a:off x="320040" y="3291840"/>
            <a:ext cx="54864" cy="1097280"/>
          </a:xfrm>
          <a:prstGeom prst="rect">
            <a:avLst/>
          </a:prstGeom>
          <a:solidFill>
            <a:srgbClr val="E53E3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484632" y="345643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F5F9"/>
                </a:solidFill>
              </a:rPr>
              <a:t>🌍  No Turkey-specific tools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4632" y="376732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Existing tools ignore Turkish sellers, Trendyol arbitrage &amp; local suppliers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54880" y="3291840"/>
            <a:ext cx="4114800" cy="1097280"/>
          </a:xfrm>
          <a:prstGeom prst="rect">
            <a:avLst/>
          </a:prstGeom>
          <a:solidFill>
            <a:srgbClr val="111827"/>
          </a:solidFill>
          <a:ln w="10160">
            <a:solidFill>
              <a:srgbClr val="3D15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Shape 17"/>
          <p:cNvSpPr/>
          <p:nvPr/>
        </p:nvSpPr>
        <p:spPr>
          <a:xfrm>
            <a:off x="4754880" y="3291840"/>
            <a:ext cx="54864" cy="1097280"/>
          </a:xfrm>
          <a:prstGeom prst="rect">
            <a:avLst/>
          </a:prstGeom>
          <a:solidFill>
            <a:srgbClr val="E53E3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/>
          <p:nvPr/>
        </p:nvSpPr>
        <p:spPr>
          <a:xfrm>
            <a:off x="4919472" y="345643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F5F9"/>
                </a:solidFill>
              </a:rPr>
              <a:t>📊  Data fragmentation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19472" y="376732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Sellers juggle 5+ tools — Helium10, Jungle Scout, Keepa, Alibaba, Trendyol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41248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2 / 16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6C63F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320040" y="25603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8B83FF"/>
                </a:solidFill>
              </a:rPr>
              <a:t>THE SOLUTION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platform. Every insight.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3749040" cy="3429000"/>
          </a:xfrm>
          <a:prstGeom prst="rect">
            <a:avLst/>
          </a:prstGeom>
          <a:solidFill>
            <a:srgbClr val="111827"/>
          </a:solidFill>
          <a:ln w="10160">
            <a:solidFill>
              <a:srgbClr val="1E3A5F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320040" y="1325880"/>
            <a:ext cx="3749040" cy="347472"/>
          </a:xfrm>
          <a:prstGeom prst="rect">
            <a:avLst/>
          </a:prstGeom>
          <a:solidFill>
            <a:srgbClr val="6C63F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320040" y="132588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1F5F9"/>
                </a:solidFill>
              </a:rPr>
              <a:t>AmazenLens Dashboard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8288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Niche Score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02920" y="2084832"/>
            <a:ext cx="3383280" cy="201168"/>
          </a:xfrm>
          <a:prstGeom prst="roundRect">
            <a:avLst>
              <a:gd name="adj" fmla="val 22727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0" name="Shape 8"/>
          <p:cNvSpPr/>
          <p:nvPr/>
        </p:nvSpPr>
        <p:spPr>
          <a:xfrm>
            <a:off x="502920" y="2084832"/>
            <a:ext cx="2706624" cy="201168"/>
          </a:xfrm>
          <a:prstGeom prst="roundRect">
            <a:avLst>
              <a:gd name="adj" fmla="val 22727"/>
            </a:avLst>
          </a:prstGeom>
          <a:solidFill>
            <a:srgbClr val="6C63F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502920" y="208483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1F5F9"/>
                </a:solidFill>
              </a:rPr>
              <a:t>78 / 100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" y="2468880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Monthly Sales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502920" y="2633472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1F5F9"/>
                </a:solidFill>
              </a:rPr>
              <a:t>1,240 units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240280" y="2468880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Profit Margin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2240280" y="2633472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1F5F9"/>
                </a:solidFill>
              </a:rPr>
              <a:t>64%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2926080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Competition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502920" y="3090672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1F5F9"/>
                </a:solidFill>
              </a:rPr>
              <a:t>Low ✓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240280" y="2926080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Supplier Price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2240280" y="3090672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1F5F9"/>
                </a:solidFill>
              </a:rPr>
              <a:t>$3.50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3611880"/>
            <a:ext cx="3383280" cy="777240"/>
          </a:xfrm>
          <a:prstGeom prst="rect">
            <a:avLst/>
          </a:prstGeom>
          <a:solidFill>
            <a:srgbClr val="0F1E35"/>
          </a:solidFill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Commentary: Strong entry opportunity.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64% margin with low review count.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251960" y="1325880"/>
            <a:ext cx="4663440" cy="713232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" name="Text 20"/>
          <p:cNvSpPr/>
          <p:nvPr/>
        </p:nvSpPr>
        <p:spPr>
          <a:xfrm>
            <a:off x="4343400" y="139903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B83FF"/>
                </a:solidFill>
              </a:rPr>
              <a:t>01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754880" y="1399032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1F5F9"/>
                </a:solidFill>
              </a:rPr>
              <a:t>100-Point Niche Score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54880" y="1655064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AI-powered scoring across demand, competition, logistics &amp; profitability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251960" y="2148840"/>
            <a:ext cx="4663440" cy="713232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6" name="Text 24"/>
          <p:cNvSpPr/>
          <p:nvPr/>
        </p:nvSpPr>
        <p:spPr>
          <a:xfrm>
            <a:off x="4343400" y="222199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B83FF"/>
                </a:solidFill>
              </a:rPr>
              <a:t>02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754880" y="2221992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1F5F9"/>
                </a:solidFill>
              </a:rPr>
              <a:t>Multi-Source Suppliers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54880" y="2478024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Alibaba, DHgate &amp; Turkish suppliers side-by-side — unique in the market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251960" y="2971800"/>
            <a:ext cx="4663440" cy="713232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0" name="Text 28"/>
          <p:cNvSpPr/>
          <p:nvPr/>
        </p:nvSpPr>
        <p:spPr>
          <a:xfrm>
            <a:off x="4343400" y="304495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B83FF"/>
                </a:solidFill>
              </a:rPr>
              <a:t>03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754880" y="3044952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1F5F9"/>
                </a:solidFill>
              </a:rPr>
              <a:t>Global Arbitrage Engine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754880" y="3300984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Trendyol ↔ Amazon, eBay, Walmart instant price gap analysis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251960" y="3794760"/>
            <a:ext cx="4663440" cy="713232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4" name="Text 32"/>
          <p:cNvSpPr/>
          <p:nvPr/>
        </p:nvSpPr>
        <p:spPr>
          <a:xfrm>
            <a:off x="4343400" y="386791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B83FF"/>
                </a:solidFill>
              </a:rPr>
              <a:t>04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754880" y="3867912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1F5F9"/>
                </a:solidFill>
              </a:rPr>
              <a:t>Trend Radar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754880" y="4123944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Google Trends + TikTok + Amazon BSR signals fused into one trend score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41248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3 / 16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320040" y="25603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EA5E9"/>
                </a:solidFill>
              </a:rPr>
              <a:t>PRODUCT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core features. One subscription.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28600" y="1325880"/>
            <a:ext cx="1600200" cy="1508760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228600" y="1325880"/>
            <a:ext cx="1600200" cy="54864"/>
          </a:xfrm>
          <a:prstGeom prst="rect">
            <a:avLst/>
          </a:prstGeom>
          <a:solidFill>
            <a:srgbClr val="6C63F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228600" y="155448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🎯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228600" y="210312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1F5F9"/>
                </a:solidFill>
              </a:rPr>
              <a:t>Niche Score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993392" y="1325880"/>
            <a:ext cx="1600200" cy="1508760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0" name="Shape 8"/>
          <p:cNvSpPr/>
          <p:nvPr/>
        </p:nvSpPr>
        <p:spPr>
          <a:xfrm>
            <a:off x="1993392" y="1325880"/>
            <a:ext cx="1600200" cy="5486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1993392" y="155448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🔍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993392" y="210312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1F5F9"/>
                </a:solidFill>
              </a:rPr>
              <a:t>Product Search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758184" y="1325880"/>
            <a:ext cx="1600200" cy="1508760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4" name="Shape 12"/>
          <p:cNvSpPr/>
          <p:nvPr/>
        </p:nvSpPr>
        <p:spPr>
          <a:xfrm>
            <a:off x="3758184" y="1325880"/>
            <a:ext cx="1600200" cy="54864"/>
          </a:xfrm>
          <a:prstGeom prst="rect">
            <a:avLst/>
          </a:prstGeom>
          <a:solidFill>
            <a:srgbClr val="E53E3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3758184" y="155448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🚫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3758184" y="210312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1F5F9"/>
                </a:solidFill>
              </a:rPr>
              <a:t>Unavailable Scanner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522976" y="1325880"/>
            <a:ext cx="1600200" cy="1508760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8" name="Shape 16"/>
          <p:cNvSpPr/>
          <p:nvPr/>
        </p:nvSpPr>
        <p:spPr>
          <a:xfrm>
            <a:off x="5522976" y="1325880"/>
            <a:ext cx="1600200" cy="54864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/>
          <p:nvPr/>
        </p:nvSpPr>
        <p:spPr>
          <a:xfrm>
            <a:off x="5522976" y="155448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💰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5522976" y="210312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1F5F9"/>
                </a:solidFill>
              </a:rPr>
              <a:t>Profit Calculator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287768" y="1325880"/>
            <a:ext cx="1600200" cy="1508760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2" name="Shape 20"/>
          <p:cNvSpPr/>
          <p:nvPr/>
        </p:nvSpPr>
        <p:spPr>
          <a:xfrm>
            <a:off x="7287768" y="1325880"/>
            <a:ext cx="160020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3" name="Text 21"/>
          <p:cNvSpPr/>
          <p:nvPr/>
        </p:nvSpPr>
        <p:spPr>
          <a:xfrm>
            <a:off x="7287768" y="155448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🏭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7287768" y="210312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1F5F9"/>
                </a:solidFill>
              </a:rPr>
              <a:t>Supplier Finder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28600" y="3017520"/>
            <a:ext cx="1600200" cy="1508760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6" name="Shape 24"/>
          <p:cNvSpPr/>
          <p:nvPr/>
        </p:nvSpPr>
        <p:spPr>
          <a:xfrm>
            <a:off x="228600" y="3017520"/>
            <a:ext cx="1600200" cy="5486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7" name="Text 25"/>
          <p:cNvSpPr/>
          <p:nvPr/>
        </p:nvSpPr>
        <p:spPr>
          <a:xfrm>
            <a:off x="228600" y="324612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🌍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228600" y="379476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1F5F9"/>
                </a:solidFill>
              </a:rPr>
              <a:t>Arbitrage Engine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993392" y="3017520"/>
            <a:ext cx="1600200" cy="1508760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0" name="Shape 28"/>
          <p:cNvSpPr/>
          <p:nvPr/>
        </p:nvSpPr>
        <p:spPr>
          <a:xfrm>
            <a:off x="1993392" y="3017520"/>
            <a:ext cx="1600200" cy="54864"/>
          </a:xfrm>
          <a:prstGeom prst="rect">
            <a:avLst/>
          </a:prstGeom>
          <a:solidFill>
            <a:srgbClr val="6C63F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1" name="Text 29"/>
          <p:cNvSpPr/>
          <p:nvPr/>
        </p:nvSpPr>
        <p:spPr>
          <a:xfrm>
            <a:off x="1993392" y="324612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📈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1993392" y="379476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1F5F9"/>
                </a:solidFill>
              </a:rPr>
              <a:t>Trend Radar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758184" y="3017520"/>
            <a:ext cx="1600200" cy="1508760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4" name="Shape 32"/>
          <p:cNvSpPr/>
          <p:nvPr/>
        </p:nvSpPr>
        <p:spPr>
          <a:xfrm>
            <a:off x="3758184" y="3017520"/>
            <a:ext cx="1600200" cy="54864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5" name="Text 33"/>
          <p:cNvSpPr/>
          <p:nvPr/>
        </p:nvSpPr>
        <p:spPr>
          <a:xfrm>
            <a:off x="3758184" y="324612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⚡</a:t>
            </a:r>
            <a:endParaRPr lang="en-US" sz="2600" dirty="0"/>
          </a:p>
        </p:txBody>
      </p:sp>
      <p:sp>
        <p:nvSpPr>
          <p:cNvPr id="36" name="Text 34"/>
          <p:cNvSpPr/>
          <p:nvPr/>
        </p:nvSpPr>
        <p:spPr>
          <a:xfrm>
            <a:off x="3758184" y="379476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1F5F9"/>
                </a:solidFill>
              </a:rPr>
              <a:t>Quick Picks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522976" y="3017520"/>
            <a:ext cx="1600200" cy="1508760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8" name="Shape 36"/>
          <p:cNvSpPr/>
          <p:nvPr/>
        </p:nvSpPr>
        <p:spPr>
          <a:xfrm>
            <a:off x="5522976" y="3017520"/>
            <a:ext cx="160020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9" name="Text 37"/>
          <p:cNvSpPr/>
          <p:nvPr/>
        </p:nvSpPr>
        <p:spPr>
          <a:xfrm>
            <a:off x="5522976" y="324612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🌐</a:t>
            </a:r>
            <a:endParaRPr lang="en-US" sz="2600" dirty="0"/>
          </a:p>
        </p:txBody>
      </p:sp>
      <p:sp>
        <p:nvSpPr>
          <p:cNvPr id="40" name="Text 38"/>
          <p:cNvSpPr/>
          <p:nvPr/>
        </p:nvSpPr>
        <p:spPr>
          <a:xfrm>
            <a:off x="5522976" y="379476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1F5F9"/>
                </a:solidFill>
              </a:rPr>
              <a:t>4 Languages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7287768" y="3017520"/>
            <a:ext cx="1600200" cy="1508760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42" name="Shape 40"/>
          <p:cNvSpPr/>
          <p:nvPr/>
        </p:nvSpPr>
        <p:spPr>
          <a:xfrm>
            <a:off x="7287768" y="3017520"/>
            <a:ext cx="1600200" cy="54864"/>
          </a:xfrm>
          <a:prstGeom prst="rect">
            <a:avLst/>
          </a:prstGeom>
          <a:solidFill>
            <a:srgbClr val="E53E3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3" name="Text 41"/>
          <p:cNvSpPr/>
          <p:nvPr/>
        </p:nvSpPr>
        <p:spPr>
          <a:xfrm>
            <a:off x="7287768" y="324612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💳</a:t>
            </a:r>
            <a:endParaRPr lang="en-US" sz="2600" dirty="0"/>
          </a:p>
        </p:txBody>
      </p:sp>
      <p:sp>
        <p:nvSpPr>
          <p:cNvPr id="44" name="Text 42"/>
          <p:cNvSpPr/>
          <p:nvPr/>
        </p:nvSpPr>
        <p:spPr>
          <a:xfrm>
            <a:off x="7287768" y="379476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1F5F9"/>
                </a:solidFill>
              </a:rPr>
              <a:t>3 Paid Plans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841248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4 / 16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320040" y="25603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22C55E"/>
                </a:solidFill>
              </a:rPr>
              <a:t>MARKET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massive, underserved market.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3840480" cy="3840480"/>
          </a:xfrm>
          <a:prstGeom prst="ellipse">
            <a:avLst/>
          </a:prstGeom>
          <a:solidFill>
            <a:srgbClr val="22C55E">
              <a:alpha val="25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822960" y="1600200"/>
            <a:ext cx="2743200" cy="2743200"/>
          </a:xfrm>
          <a:prstGeom prst="ellipse">
            <a:avLst/>
          </a:prstGeom>
          <a:solidFill>
            <a:srgbClr val="0EA5E9">
              <a:alpha val="40000"/>
            </a:srgbClr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Shape 5"/>
          <p:cNvSpPr/>
          <p:nvPr/>
        </p:nvSpPr>
        <p:spPr>
          <a:xfrm>
            <a:off x="1371600" y="2148840"/>
            <a:ext cx="1645920" cy="1645920"/>
          </a:xfrm>
          <a:prstGeom prst="ellipse">
            <a:avLst/>
          </a:prstGeom>
          <a:solidFill>
            <a:srgbClr val="6C63FF">
              <a:alpha val="55000"/>
            </a:srgbClr>
          </a:solidFill>
          <a:ln w="12700">
            <a:solidFill>
              <a:srgbClr val="6C63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274320" y="2203704"/>
            <a:ext cx="3840480" cy="1536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1F5F9"/>
                </a:solidFill>
              </a:rPr>
              <a:t>TAM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1F5F9"/>
                </a:solidFill>
              </a:rPr>
              <a:t>$45B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242316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1F5F9"/>
                </a:solidFill>
              </a:rPr>
              <a:t>SAM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1F5F9"/>
                </a:solidFill>
              </a:rPr>
              <a:t>$4.5B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371600" y="2642616"/>
            <a:ext cx="1645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1F5F9"/>
                </a:solidFill>
              </a:rPr>
              <a:t>SOM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1F5F9"/>
                </a:solidFill>
              </a:rPr>
              <a:t>$450M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74320" y="46634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TAM · SAM · SOM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572000" y="1188720"/>
            <a:ext cx="4297680" cy="640080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Shape 11"/>
          <p:cNvSpPr/>
          <p:nvPr/>
        </p:nvSpPr>
        <p:spPr>
          <a:xfrm>
            <a:off x="4572000" y="1188720"/>
            <a:ext cx="45720" cy="64008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4754880" y="126187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C55E"/>
                </a:solidFill>
              </a:rPr>
              <a:t>10M+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754880" y="1536192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Active Amazon sellers worldwide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0" y="1938528"/>
            <a:ext cx="4297680" cy="640080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Shape 15"/>
          <p:cNvSpPr/>
          <p:nvPr/>
        </p:nvSpPr>
        <p:spPr>
          <a:xfrm>
            <a:off x="4572000" y="1938528"/>
            <a:ext cx="45720" cy="64008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4754880" y="20116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A5E9"/>
                </a:solidFill>
              </a:rPr>
              <a:t>37.6%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754880" y="228600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Amazon's share of US e-commerce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0" y="2688336"/>
            <a:ext cx="4297680" cy="640080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Shape 19"/>
          <p:cNvSpPr/>
          <p:nvPr/>
        </p:nvSpPr>
        <p:spPr>
          <a:xfrm>
            <a:off x="4572000" y="2688336"/>
            <a:ext cx="45720" cy="6400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2" name="Text 20"/>
          <p:cNvSpPr/>
          <p:nvPr/>
        </p:nvSpPr>
        <p:spPr>
          <a:xfrm>
            <a:off x="4754880" y="276148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9E0B"/>
                </a:solidFill>
              </a:rPr>
              <a:t>$97+/mo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754880" y="3035808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Avg. competitor price (Helium 10)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0" y="3438144"/>
            <a:ext cx="4297680" cy="640080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5" name="Shape 23"/>
          <p:cNvSpPr/>
          <p:nvPr/>
        </p:nvSpPr>
        <p:spPr>
          <a:xfrm>
            <a:off x="4572000" y="3438144"/>
            <a:ext cx="45720" cy="640080"/>
          </a:xfrm>
          <a:prstGeom prst="rect">
            <a:avLst/>
          </a:prstGeom>
          <a:solidFill>
            <a:srgbClr val="E53E3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6" name="Text 24"/>
          <p:cNvSpPr/>
          <p:nvPr/>
        </p:nvSpPr>
        <p:spPr>
          <a:xfrm>
            <a:off x="4754880" y="3511296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53E3E"/>
                </a:solidFill>
              </a:rPr>
              <a:t>0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754880" y="3785616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Turkish-language tools in the market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0" y="4187952"/>
            <a:ext cx="4297680" cy="640080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9" name="Shape 27"/>
          <p:cNvSpPr/>
          <p:nvPr/>
        </p:nvSpPr>
        <p:spPr>
          <a:xfrm>
            <a:off x="4572000" y="4187952"/>
            <a:ext cx="45720" cy="640080"/>
          </a:xfrm>
          <a:prstGeom prst="rect">
            <a:avLst/>
          </a:prstGeom>
          <a:solidFill>
            <a:srgbClr val="6C63F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0" name="Text 28"/>
          <p:cNvSpPr/>
          <p:nvPr/>
        </p:nvSpPr>
        <p:spPr>
          <a:xfrm>
            <a:off x="4754880" y="426110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C63FF"/>
                </a:solidFill>
              </a:rPr>
              <a:t>2.3x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4754880" y="4535424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Turkish e-seller growth in 3 years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41248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5 / 16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320040" y="25603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59E0B"/>
                </a:solidFill>
              </a:rPr>
              <a:t>COMPETITION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the only tool built for every seller.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28600" y="1325880"/>
            <a:ext cx="2103120" cy="347472"/>
          </a:xfrm>
          <a:prstGeom prst="rect">
            <a:avLst/>
          </a:prstGeom>
          <a:solidFill>
            <a:srgbClr val="1E293B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228600" y="132588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4748B"/>
                </a:solidFill>
              </a:rPr>
              <a:t>Feature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377440" y="1325880"/>
            <a:ext cx="1371600" cy="347472"/>
          </a:xfrm>
          <a:prstGeom prst="rect">
            <a:avLst/>
          </a:prstGeom>
          <a:solidFill>
            <a:srgbClr val="6C63FF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2377440" y="132588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1F5F9"/>
                </a:solidFill>
              </a:rPr>
              <a:t>AmazenLens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794760" y="1325880"/>
            <a:ext cx="1371600" cy="347472"/>
          </a:xfrm>
          <a:prstGeom prst="rect">
            <a:avLst/>
          </a:prstGeom>
          <a:solidFill>
            <a:srgbClr val="1E293B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3794760" y="132588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4748B"/>
                </a:solidFill>
              </a:rPr>
              <a:t>Helium 10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212080" y="1325880"/>
            <a:ext cx="1371600" cy="347472"/>
          </a:xfrm>
          <a:prstGeom prst="rect">
            <a:avLst/>
          </a:prstGeom>
          <a:solidFill>
            <a:srgbClr val="1E293B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5212080" y="132588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4748B"/>
                </a:solidFill>
              </a:rPr>
              <a:t>Jungle Scout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629400" y="1325880"/>
            <a:ext cx="1371600" cy="347472"/>
          </a:xfrm>
          <a:prstGeom prst="rect">
            <a:avLst/>
          </a:prstGeom>
          <a:solidFill>
            <a:srgbClr val="1E293B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6629400" y="132588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4748B"/>
                </a:solidFill>
              </a:rPr>
              <a:t>SmartScout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8600" y="1673352"/>
            <a:ext cx="2103120" cy="347472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228600" y="1673352"/>
            <a:ext cx="2103120" cy="34747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</a:rPr>
              <a:t>Starting price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377440" y="1673352"/>
            <a:ext cx="1371600" cy="347472"/>
          </a:xfrm>
          <a:prstGeom prst="rect">
            <a:avLst/>
          </a:prstGeom>
          <a:solidFill>
            <a:srgbClr val="1A1040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2377440" y="167335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1F5F9"/>
                </a:solidFill>
              </a:rPr>
              <a:t>$19/mo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794760" y="1673352"/>
            <a:ext cx="1371600" cy="347472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/>
          <p:nvPr/>
        </p:nvSpPr>
        <p:spPr>
          <a:xfrm>
            <a:off x="3794760" y="167335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$97/mo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212080" y="1673352"/>
            <a:ext cx="1371600" cy="347472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" name="Text 20"/>
          <p:cNvSpPr/>
          <p:nvPr/>
        </p:nvSpPr>
        <p:spPr>
          <a:xfrm>
            <a:off x="5212080" y="167335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$49/mo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629400" y="1673352"/>
            <a:ext cx="1371600" cy="347472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" name="Text 22"/>
          <p:cNvSpPr/>
          <p:nvPr/>
        </p:nvSpPr>
        <p:spPr>
          <a:xfrm>
            <a:off x="6629400" y="167335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$65/mo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28600" y="2048256"/>
            <a:ext cx="2103120" cy="347472"/>
          </a:xfrm>
          <a:prstGeom prst="rect">
            <a:avLst/>
          </a:prstGeom>
          <a:solidFill>
            <a:srgbClr val="0D1525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6" name="Text 24"/>
          <p:cNvSpPr/>
          <p:nvPr/>
        </p:nvSpPr>
        <p:spPr>
          <a:xfrm>
            <a:off x="228600" y="2048256"/>
            <a:ext cx="2103120" cy="34747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</a:rPr>
              <a:t>Turkish language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377440" y="2048256"/>
            <a:ext cx="1371600" cy="347472"/>
          </a:xfrm>
          <a:prstGeom prst="rect">
            <a:avLst/>
          </a:prstGeom>
          <a:solidFill>
            <a:srgbClr val="1A1040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8" name="Text 26"/>
          <p:cNvSpPr/>
          <p:nvPr/>
        </p:nvSpPr>
        <p:spPr>
          <a:xfrm>
            <a:off x="2377440" y="204825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C55E"/>
                </a:solidFill>
              </a:rPr>
              <a:t>✓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794760" y="2048256"/>
            <a:ext cx="1371600" cy="347472"/>
          </a:xfrm>
          <a:prstGeom prst="rect">
            <a:avLst/>
          </a:prstGeom>
          <a:solidFill>
            <a:srgbClr val="0D1525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0" name="Text 28"/>
          <p:cNvSpPr/>
          <p:nvPr/>
        </p:nvSpPr>
        <p:spPr>
          <a:xfrm>
            <a:off x="3794760" y="204825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53E3E"/>
                </a:solidFill>
              </a:rPr>
              <a:t>✗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212080" y="2048256"/>
            <a:ext cx="1371600" cy="347472"/>
          </a:xfrm>
          <a:prstGeom prst="rect">
            <a:avLst/>
          </a:prstGeom>
          <a:solidFill>
            <a:srgbClr val="0D1525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2" name="Text 30"/>
          <p:cNvSpPr/>
          <p:nvPr/>
        </p:nvSpPr>
        <p:spPr>
          <a:xfrm>
            <a:off x="5212080" y="204825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53E3E"/>
                </a:solidFill>
              </a:rPr>
              <a:t>✗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629400" y="2048256"/>
            <a:ext cx="1371600" cy="347472"/>
          </a:xfrm>
          <a:prstGeom prst="rect">
            <a:avLst/>
          </a:prstGeom>
          <a:solidFill>
            <a:srgbClr val="0D1525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4" name="Text 32"/>
          <p:cNvSpPr/>
          <p:nvPr/>
        </p:nvSpPr>
        <p:spPr>
          <a:xfrm>
            <a:off x="6629400" y="204825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53E3E"/>
                </a:solidFill>
              </a:rPr>
              <a:t>✗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28600" y="2423160"/>
            <a:ext cx="2103120" cy="347472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6" name="Text 34"/>
          <p:cNvSpPr/>
          <p:nvPr/>
        </p:nvSpPr>
        <p:spPr>
          <a:xfrm>
            <a:off x="228600" y="2423160"/>
            <a:ext cx="2103120" cy="34747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</a:rPr>
              <a:t>Trendyol arbitrage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377440" y="2423160"/>
            <a:ext cx="1371600" cy="347472"/>
          </a:xfrm>
          <a:prstGeom prst="rect">
            <a:avLst/>
          </a:prstGeom>
          <a:solidFill>
            <a:srgbClr val="1A1040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8" name="Text 36"/>
          <p:cNvSpPr/>
          <p:nvPr/>
        </p:nvSpPr>
        <p:spPr>
          <a:xfrm>
            <a:off x="2377440" y="242316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C55E"/>
                </a:solidFill>
              </a:rPr>
              <a:t>✓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794760" y="2423160"/>
            <a:ext cx="1371600" cy="347472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0" name="Text 38"/>
          <p:cNvSpPr/>
          <p:nvPr/>
        </p:nvSpPr>
        <p:spPr>
          <a:xfrm>
            <a:off x="3794760" y="242316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53E3E"/>
                </a:solidFill>
              </a:rPr>
              <a:t>✗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212080" y="2423160"/>
            <a:ext cx="1371600" cy="347472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2" name="Text 40"/>
          <p:cNvSpPr/>
          <p:nvPr/>
        </p:nvSpPr>
        <p:spPr>
          <a:xfrm>
            <a:off x="5212080" y="242316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53E3E"/>
                </a:solidFill>
              </a:rPr>
              <a:t>✗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629400" y="2423160"/>
            <a:ext cx="1371600" cy="347472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4" name="Text 42"/>
          <p:cNvSpPr/>
          <p:nvPr/>
        </p:nvSpPr>
        <p:spPr>
          <a:xfrm>
            <a:off x="6629400" y="242316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53E3E"/>
                </a:solidFill>
              </a:rPr>
              <a:t>✗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228600" y="2798064"/>
            <a:ext cx="2103120" cy="347472"/>
          </a:xfrm>
          <a:prstGeom prst="rect">
            <a:avLst/>
          </a:prstGeom>
          <a:solidFill>
            <a:srgbClr val="0D1525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6" name="Text 44"/>
          <p:cNvSpPr/>
          <p:nvPr/>
        </p:nvSpPr>
        <p:spPr>
          <a:xfrm>
            <a:off x="228600" y="2798064"/>
            <a:ext cx="2103120" cy="34747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</a:rPr>
              <a:t>Turkish suppliers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2377440" y="2798064"/>
            <a:ext cx="1371600" cy="347472"/>
          </a:xfrm>
          <a:prstGeom prst="rect">
            <a:avLst/>
          </a:prstGeom>
          <a:solidFill>
            <a:srgbClr val="1A1040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8" name="Text 46"/>
          <p:cNvSpPr/>
          <p:nvPr/>
        </p:nvSpPr>
        <p:spPr>
          <a:xfrm>
            <a:off x="2377440" y="279806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C55E"/>
                </a:solidFill>
              </a:rPr>
              <a:t>✓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3794760" y="2798064"/>
            <a:ext cx="1371600" cy="347472"/>
          </a:xfrm>
          <a:prstGeom prst="rect">
            <a:avLst/>
          </a:prstGeom>
          <a:solidFill>
            <a:srgbClr val="0D1525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0" name="Text 48"/>
          <p:cNvSpPr/>
          <p:nvPr/>
        </p:nvSpPr>
        <p:spPr>
          <a:xfrm>
            <a:off x="3794760" y="279806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53E3E"/>
                </a:solidFill>
              </a:rPr>
              <a:t>✗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5212080" y="2798064"/>
            <a:ext cx="1371600" cy="347472"/>
          </a:xfrm>
          <a:prstGeom prst="rect">
            <a:avLst/>
          </a:prstGeom>
          <a:solidFill>
            <a:srgbClr val="0D1525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2" name="Text 50"/>
          <p:cNvSpPr/>
          <p:nvPr/>
        </p:nvSpPr>
        <p:spPr>
          <a:xfrm>
            <a:off x="5212080" y="279806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53E3E"/>
                </a:solidFill>
              </a:rPr>
              <a:t>✗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6629400" y="2798064"/>
            <a:ext cx="1371600" cy="347472"/>
          </a:xfrm>
          <a:prstGeom prst="rect">
            <a:avLst/>
          </a:prstGeom>
          <a:solidFill>
            <a:srgbClr val="0D1525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4" name="Text 52"/>
          <p:cNvSpPr/>
          <p:nvPr/>
        </p:nvSpPr>
        <p:spPr>
          <a:xfrm>
            <a:off x="6629400" y="279806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53E3E"/>
                </a:solidFill>
              </a:rPr>
              <a:t>✗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228600" y="3172968"/>
            <a:ext cx="2103120" cy="347472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6" name="Text 54"/>
          <p:cNvSpPr/>
          <p:nvPr/>
        </p:nvSpPr>
        <p:spPr>
          <a:xfrm>
            <a:off x="228600" y="3172968"/>
            <a:ext cx="2103120" cy="34747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</a:rPr>
              <a:t>Multi-source supplier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2377440" y="3172968"/>
            <a:ext cx="1371600" cy="347472"/>
          </a:xfrm>
          <a:prstGeom prst="rect">
            <a:avLst/>
          </a:prstGeom>
          <a:solidFill>
            <a:srgbClr val="1A1040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8" name="Text 56"/>
          <p:cNvSpPr/>
          <p:nvPr/>
        </p:nvSpPr>
        <p:spPr>
          <a:xfrm>
            <a:off x="2377440" y="317296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C55E"/>
                </a:solidFill>
              </a:rPr>
              <a:t>✓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3794760" y="3172968"/>
            <a:ext cx="1371600" cy="347472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0" name="Text 58"/>
          <p:cNvSpPr/>
          <p:nvPr/>
        </p:nvSpPr>
        <p:spPr>
          <a:xfrm>
            <a:off x="3794760" y="317296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53E3E"/>
                </a:solidFill>
              </a:rPr>
              <a:t>✗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5212080" y="3172968"/>
            <a:ext cx="1371600" cy="347472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2" name="Text 60"/>
          <p:cNvSpPr/>
          <p:nvPr/>
        </p:nvSpPr>
        <p:spPr>
          <a:xfrm>
            <a:off x="5212080" y="317296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53E3E"/>
                </a:solidFill>
              </a:rPr>
              <a:t>✗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6629400" y="3172968"/>
            <a:ext cx="1371600" cy="347472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4" name="Text 62"/>
          <p:cNvSpPr/>
          <p:nvPr/>
        </p:nvSpPr>
        <p:spPr>
          <a:xfrm>
            <a:off x="6629400" y="317296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Partial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228600" y="3547872"/>
            <a:ext cx="2103120" cy="347472"/>
          </a:xfrm>
          <a:prstGeom prst="rect">
            <a:avLst/>
          </a:prstGeom>
          <a:solidFill>
            <a:srgbClr val="0D1525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6" name="Text 64"/>
          <p:cNvSpPr/>
          <p:nvPr/>
        </p:nvSpPr>
        <p:spPr>
          <a:xfrm>
            <a:off x="228600" y="3547872"/>
            <a:ext cx="2103120" cy="34747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</a:rPr>
              <a:t>Trend Radar (AI)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2377440" y="3547872"/>
            <a:ext cx="1371600" cy="347472"/>
          </a:xfrm>
          <a:prstGeom prst="rect">
            <a:avLst/>
          </a:prstGeom>
          <a:solidFill>
            <a:srgbClr val="1A1040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8" name="Text 66"/>
          <p:cNvSpPr/>
          <p:nvPr/>
        </p:nvSpPr>
        <p:spPr>
          <a:xfrm>
            <a:off x="2377440" y="354787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C55E"/>
                </a:solidFill>
              </a:rPr>
              <a:t>✓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3794760" y="3547872"/>
            <a:ext cx="1371600" cy="347472"/>
          </a:xfrm>
          <a:prstGeom prst="rect">
            <a:avLst/>
          </a:prstGeom>
          <a:solidFill>
            <a:srgbClr val="0D1525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0" name="Text 68"/>
          <p:cNvSpPr/>
          <p:nvPr/>
        </p:nvSpPr>
        <p:spPr>
          <a:xfrm>
            <a:off x="3794760" y="354787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53E3E"/>
                </a:solidFill>
              </a:rPr>
              <a:t>✗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5212080" y="3547872"/>
            <a:ext cx="1371600" cy="347472"/>
          </a:xfrm>
          <a:prstGeom prst="rect">
            <a:avLst/>
          </a:prstGeom>
          <a:solidFill>
            <a:srgbClr val="0D1525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2" name="Text 70"/>
          <p:cNvSpPr/>
          <p:nvPr/>
        </p:nvSpPr>
        <p:spPr>
          <a:xfrm>
            <a:off x="5212080" y="354787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53E3E"/>
                </a:solidFill>
              </a:rPr>
              <a:t>✗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6629400" y="3547872"/>
            <a:ext cx="1371600" cy="347472"/>
          </a:xfrm>
          <a:prstGeom prst="rect">
            <a:avLst/>
          </a:prstGeom>
          <a:solidFill>
            <a:srgbClr val="0D1525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4" name="Text 72"/>
          <p:cNvSpPr/>
          <p:nvPr/>
        </p:nvSpPr>
        <p:spPr>
          <a:xfrm>
            <a:off x="6629400" y="354787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53E3E"/>
                </a:solidFill>
              </a:rPr>
              <a:t>✗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228600" y="3922776"/>
            <a:ext cx="2103120" cy="347472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6" name="Text 74"/>
          <p:cNvSpPr/>
          <p:nvPr/>
        </p:nvSpPr>
        <p:spPr>
          <a:xfrm>
            <a:off x="228600" y="3922776"/>
            <a:ext cx="2103120" cy="34747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</a:rPr>
              <a:t>Mobile app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2377440" y="3922776"/>
            <a:ext cx="1371600" cy="347472"/>
          </a:xfrm>
          <a:prstGeom prst="rect">
            <a:avLst/>
          </a:prstGeom>
          <a:solidFill>
            <a:srgbClr val="1A1040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8" name="Text 76"/>
          <p:cNvSpPr/>
          <p:nvPr/>
        </p:nvSpPr>
        <p:spPr>
          <a:xfrm>
            <a:off x="2377440" y="392277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1F5F9"/>
                </a:solidFill>
              </a:rPr>
              <a:t>Faz 3</a:t>
            </a:r>
            <a:endParaRPr lang="en-US" sz="1100" dirty="0"/>
          </a:p>
        </p:txBody>
      </p:sp>
      <p:sp>
        <p:nvSpPr>
          <p:cNvPr id="79" name="Shape 77"/>
          <p:cNvSpPr/>
          <p:nvPr/>
        </p:nvSpPr>
        <p:spPr>
          <a:xfrm>
            <a:off x="3794760" y="3922776"/>
            <a:ext cx="1371600" cy="347472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0" name="Text 78"/>
          <p:cNvSpPr/>
          <p:nvPr/>
        </p:nvSpPr>
        <p:spPr>
          <a:xfrm>
            <a:off x="3794760" y="392277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C55E"/>
                </a:solidFill>
              </a:rPr>
              <a:t>✓</a:t>
            </a:r>
            <a:endParaRPr lang="en-US" sz="1100" dirty="0"/>
          </a:p>
        </p:txBody>
      </p:sp>
      <p:sp>
        <p:nvSpPr>
          <p:cNvPr id="81" name="Shape 79"/>
          <p:cNvSpPr/>
          <p:nvPr/>
        </p:nvSpPr>
        <p:spPr>
          <a:xfrm>
            <a:off x="5212080" y="3922776"/>
            <a:ext cx="1371600" cy="347472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2" name="Text 80"/>
          <p:cNvSpPr/>
          <p:nvPr/>
        </p:nvSpPr>
        <p:spPr>
          <a:xfrm>
            <a:off x="5212080" y="392277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2C55E"/>
                </a:solidFill>
              </a:rPr>
              <a:t>✓</a:t>
            </a:r>
            <a:endParaRPr lang="en-US" sz="1100" dirty="0"/>
          </a:p>
        </p:txBody>
      </p:sp>
      <p:sp>
        <p:nvSpPr>
          <p:cNvPr id="83" name="Shape 81"/>
          <p:cNvSpPr/>
          <p:nvPr/>
        </p:nvSpPr>
        <p:spPr>
          <a:xfrm>
            <a:off x="6629400" y="3922776"/>
            <a:ext cx="1371600" cy="347472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4" name="Text 82"/>
          <p:cNvSpPr/>
          <p:nvPr/>
        </p:nvSpPr>
        <p:spPr>
          <a:xfrm>
            <a:off x="6629400" y="392277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53E3E"/>
                </a:solidFill>
              </a:rPr>
              <a:t>✗</a:t>
            </a:r>
            <a:endParaRPr lang="en-US" sz="1100" dirty="0"/>
          </a:p>
        </p:txBody>
      </p:sp>
      <p:sp>
        <p:nvSpPr>
          <p:cNvPr id="85" name="Shape 83"/>
          <p:cNvSpPr/>
          <p:nvPr/>
        </p:nvSpPr>
        <p:spPr>
          <a:xfrm>
            <a:off x="228600" y="4297680"/>
            <a:ext cx="2103120" cy="347472"/>
          </a:xfrm>
          <a:prstGeom prst="rect">
            <a:avLst/>
          </a:prstGeom>
          <a:solidFill>
            <a:srgbClr val="0D1525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6" name="Text 84"/>
          <p:cNvSpPr/>
          <p:nvPr/>
        </p:nvSpPr>
        <p:spPr>
          <a:xfrm>
            <a:off x="228600" y="4297680"/>
            <a:ext cx="2103120" cy="34747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</a:rPr>
              <a:t>Price</a:t>
            </a:r>
            <a:endParaRPr lang="en-US" sz="950" dirty="0"/>
          </a:p>
        </p:txBody>
      </p:sp>
      <p:sp>
        <p:nvSpPr>
          <p:cNvPr id="87" name="Shape 85"/>
          <p:cNvSpPr/>
          <p:nvPr/>
        </p:nvSpPr>
        <p:spPr>
          <a:xfrm>
            <a:off x="2377440" y="4297680"/>
            <a:ext cx="1371600" cy="347472"/>
          </a:xfrm>
          <a:prstGeom prst="rect">
            <a:avLst/>
          </a:prstGeom>
          <a:solidFill>
            <a:srgbClr val="1A1040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8" name="Text 86"/>
          <p:cNvSpPr/>
          <p:nvPr/>
        </p:nvSpPr>
        <p:spPr>
          <a:xfrm>
            <a:off x="2377440" y="429768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1F5F9"/>
                </a:solidFill>
              </a:rPr>
              <a:t>★★★★★</a:t>
            </a:r>
            <a:endParaRPr lang="en-US" sz="1100" dirty="0"/>
          </a:p>
        </p:txBody>
      </p:sp>
      <p:sp>
        <p:nvSpPr>
          <p:cNvPr id="89" name="Shape 87"/>
          <p:cNvSpPr/>
          <p:nvPr/>
        </p:nvSpPr>
        <p:spPr>
          <a:xfrm>
            <a:off x="3794760" y="4297680"/>
            <a:ext cx="1371600" cy="347472"/>
          </a:xfrm>
          <a:prstGeom prst="rect">
            <a:avLst/>
          </a:prstGeom>
          <a:solidFill>
            <a:srgbClr val="0D1525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0" name="Text 88"/>
          <p:cNvSpPr/>
          <p:nvPr/>
        </p:nvSpPr>
        <p:spPr>
          <a:xfrm>
            <a:off x="3794760" y="429768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★★☆☆☆</a:t>
            </a:r>
            <a:endParaRPr lang="en-US" sz="1100" dirty="0"/>
          </a:p>
        </p:txBody>
      </p:sp>
      <p:sp>
        <p:nvSpPr>
          <p:cNvPr id="91" name="Shape 89"/>
          <p:cNvSpPr/>
          <p:nvPr/>
        </p:nvSpPr>
        <p:spPr>
          <a:xfrm>
            <a:off x="5212080" y="4297680"/>
            <a:ext cx="1371600" cy="347472"/>
          </a:xfrm>
          <a:prstGeom prst="rect">
            <a:avLst/>
          </a:prstGeom>
          <a:solidFill>
            <a:srgbClr val="0D1525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2" name="Text 90"/>
          <p:cNvSpPr/>
          <p:nvPr/>
        </p:nvSpPr>
        <p:spPr>
          <a:xfrm>
            <a:off x="5212080" y="429768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★★★☆☆</a:t>
            </a:r>
            <a:endParaRPr lang="en-US" sz="1100" dirty="0"/>
          </a:p>
        </p:txBody>
      </p:sp>
      <p:sp>
        <p:nvSpPr>
          <p:cNvPr id="93" name="Shape 91"/>
          <p:cNvSpPr/>
          <p:nvPr/>
        </p:nvSpPr>
        <p:spPr>
          <a:xfrm>
            <a:off x="6629400" y="4297680"/>
            <a:ext cx="1371600" cy="347472"/>
          </a:xfrm>
          <a:prstGeom prst="rect">
            <a:avLst/>
          </a:prstGeom>
          <a:solidFill>
            <a:srgbClr val="0D1525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4" name="Text 92"/>
          <p:cNvSpPr/>
          <p:nvPr/>
        </p:nvSpPr>
        <p:spPr>
          <a:xfrm>
            <a:off x="6629400" y="429768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★★★☆☆</a:t>
            </a:r>
            <a:endParaRPr lang="en-US" sz="1100" dirty="0"/>
          </a:p>
        </p:txBody>
      </p:sp>
      <p:sp>
        <p:nvSpPr>
          <p:cNvPr id="95" name="Text 93"/>
          <p:cNvSpPr/>
          <p:nvPr/>
        </p:nvSpPr>
        <p:spPr>
          <a:xfrm>
            <a:off x="841248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6 / 16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6C63F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320040" y="25603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8B83FF"/>
                </a:solidFill>
              </a:rPr>
              <a:t>BUSINESS MODEL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+ usage-based revenue.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01168" y="1325880"/>
            <a:ext cx="2011680" cy="3520440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201168" y="14173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1F5F9"/>
                </a:solidFill>
              </a:rPr>
              <a:t>Starter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01168" y="170992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EA5E9"/>
                </a:solidFill>
              </a:rPr>
              <a:t>$19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01168" y="219456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/mo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84048" y="2560320"/>
            <a:ext cx="164592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338328" y="26974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✓  500 product searches/mo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38328" y="308152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✓  Niche Score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38328" y="3465576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✓  Supplier lookup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38328" y="3849624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✓  Email support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414016" y="1325880"/>
            <a:ext cx="2011680" cy="3520440"/>
          </a:xfrm>
          <a:prstGeom prst="rect">
            <a:avLst/>
          </a:prstGeom>
          <a:solidFill>
            <a:srgbClr val="1A1040"/>
          </a:solidFill>
          <a:ln w="19050">
            <a:solidFill>
              <a:srgbClr val="6C63FF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5" name="Shape 13"/>
          <p:cNvSpPr/>
          <p:nvPr/>
        </p:nvSpPr>
        <p:spPr>
          <a:xfrm>
            <a:off x="2414016" y="1325880"/>
            <a:ext cx="2011680" cy="292608"/>
          </a:xfrm>
          <a:prstGeom prst="rect">
            <a:avLst/>
          </a:prstGeom>
          <a:solidFill>
            <a:srgbClr val="6C63F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2414016" y="13258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F1F5F9"/>
                </a:solidFill>
              </a:rPr>
              <a:t>MOST POPULAR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2414016" y="161848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1F5F9"/>
                </a:solidFill>
              </a:rPr>
              <a:t>Growth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414016" y="1911096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6C63FF"/>
                </a:solidFill>
              </a:rPr>
              <a:t>$49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2414016" y="2395728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/mo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596896" y="2697480"/>
            <a:ext cx="164592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2551176" y="28346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✓  Unlimited searches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551176" y="321868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✓  Trend Radar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551176" y="3602736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✓  Arbitrage Engine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551176" y="3986784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✓  Priority support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551176" y="4370832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✓  Bulk scanner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626864" y="1325880"/>
            <a:ext cx="2011680" cy="3520440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7" name="Text 25"/>
          <p:cNvSpPr/>
          <p:nvPr/>
        </p:nvSpPr>
        <p:spPr>
          <a:xfrm>
            <a:off x="4626864" y="14173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1F5F9"/>
                </a:solidFill>
              </a:rPr>
              <a:t>Pro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626864" y="170992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9E0B"/>
                </a:solidFill>
              </a:rPr>
              <a:t>$99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4626864" y="219456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/mo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809744" y="2560320"/>
            <a:ext cx="164592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1" name="Text 29"/>
          <p:cNvSpPr/>
          <p:nvPr/>
        </p:nvSpPr>
        <p:spPr>
          <a:xfrm>
            <a:off x="4764024" y="26974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✓  Everything in Growth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764024" y="308152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✓  API access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764024" y="3465576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✓  Team seats (5)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764024" y="3849624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✓  Custom reports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764024" y="4233672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✓  Dedicated CSM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839712" y="1325880"/>
            <a:ext cx="2011680" cy="3520440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7" name="Text 35"/>
          <p:cNvSpPr/>
          <p:nvPr/>
        </p:nvSpPr>
        <p:spPr>
          <a:xfrm>
            <a:off x="6839712" y="14173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1F5F9"/>
                </a:solidFill>
              </a:rPr>
              <a:t>Enterprise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839712" y="170992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2C55E"/>
                </a:solidFill>
              </a:rPr>
              <a:t>Custom</a:t>
            </a:r>
            <a:endParaRPr lang="en-US" sz="2800" dirty="0"/>
          </a:p>
        </p:txBody>
      </p:sp>
      <p:sp>
        <p:nvSpPr>
          <p:cNvPr id="39" name="Shape 37"/>
          <p:cNvSpPr/>
          <p:nvPr/>
        </p:nvSpPr>
        <p:spPr>
          <a:xfrm>
            <a:off x="7022592" y="2560320"/>
            <a:ext cx="164592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0" name="Text 38"/>
          <p:cNvSpPr/>
          <p:nvPr/>
        </p:nvSpPr>
        <p:spPr>
          <a:xfrm>
            <a:off x="6976872" y="26974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✓  White-label option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6976872" y="308152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✓  Unlimited team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976872" y="3465576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✓  SLA guarantee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6976872" y="3849624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✓  Onboarding support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201168" y="4617720"/>
            <a:ext cx="8741664" cy="274320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5" name="Text 43"/>
          <p:cNvSpPr/>
          <p:nvPr/>
        </p:nvSpPr>
        <p:spPr>
          <a:xfrm>
            <a:off x="201168" y="4617720"/>
            <a:ext cx="8741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Additional revenue:  Affiliate commissions (Amazon PA-API)  ·  Supplier lead gen  ·  API access (Faz 2)  ·  White-label B2B (Faz 4)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841248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7 / 16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320040" y="25603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EA5E9"/>
                </a:solidFill>
              </a:rPr>
              <a:t>TRACTION &amp; ROADMAP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zero to launch in 9 months.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20040" y="126187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C55E"/>
                </a:solidFill>
              </a:rPr>
              <a:t>✓  Already done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1572768"/>
            <a:ext cx="3931920" cy="502920"/>
          </a:xfrm>
          <a:prstGeom prst="rect">
            <a:avLst/>
          </a:prstGeom>
          <a:solidFill>
            <a:srgbClr val="111827"/>
          </a:solidFill>
          <a:ln w="6350">
            <a:solidFill>
              <a:srgbClr val="14532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Shape 5"/>
          <p:cNvSpPr/>
          <p:nvPr/>
        </p:nvSpPr>
        <p:spPr>
          <a:xfrm>
            <a:off x="320040" y="1572768"/>
            <a:ext cx="45720" cy="50292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502920" y="1609344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C55E"/>
                </a:solidFill>
              </a:rPr>
              <a:t>MVP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181965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Full-stack app live (localhost)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20040" y="2176272"/>
            <a:ext cx="3931920" cy="502920"/>
          </a:xfrm>
          <a:prstGeom prst="rect">
            <a:avLst/>
          </a:prstGeom>
          <a:solidFill>
            <a:srgbClr val="111827"/>
          </a:solidFill>
          <a:ln w="6350">
            <a:solidFill>
              <a:srgbClr val="14532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Shape 9"/>
          <p:cNvSpPr/>
          <p:nvPr/>
        </p:nvSpPr>
        <p:spPr>
          <a:xfrm>
            <a:off x="320040" y="2176272"/>
            <a:ext cx="45720" cy="50292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502920" y="221284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C55E"/>
                </a:solidFill>
              </a:rPr>
              <a:t>Spec v1.3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2423160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Product spec documented &amp; versioned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0040" y="2779776"/>
            <a:ext cx="3931920" cy="502920"/>
          </a:xfrm>
          <a:prstGeom prst="rect">
            <a:avLst/>
          </a:prstGeom>
          <a:solidFill>
            <a:srgbClr val="111827"/>
          </a:solidFill>
          <a:ln w="6350">
            <a:solidFill>
              <a:srgbClr val="14532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Shape 13"/>
          <p:cNvSpPr/>
          <p:nvPr/>
        </p:nvSpPr>
        <p:spPr>
          <a:xfrm>
            <a:off x="320040" y="2779776"/>
            <a:ext cx="45720" cy="50292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502920" y="2816352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C55E"/>
                </a:solidFill>
              </a:rPr>
              <a:t>BiGG Applied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" y="302666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TÜBİTAK BiGG 1512 application submitted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20040" y="3383280"/>
            <a:ext cx="3931920" cy="502920"/>
          </a:xfrm>
          <a:prstGeom prst="rect">
            <a:avLst/>
          </a:prstGeom>
          <a:solidFill>
            <a:srgbClr val="111827"/>
          </a:solidFill>
          <a:ln w="6350">
            <a:solidFill>
              <a:srgbClr val="14532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Shape 17"/>
          <p:cNvSpPr/>
          <p:nvPr/>
        </p:nvSpPr>
        <p:spPr>
          <a:xfrm>
            <a:off x="320040" y="3383280"/>
            <a:ext cx="45720" cy="50292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/>
          <p:nvPr/>
        </p:nvSpPr>
        <p:spPr>
          <a:xfrm>
            <a:off x="502920" y="3419856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C55E"/>
                </a:solidFill>
              </a:rPr>
              <a:t>10 features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2920" y="363016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Phase 1 feature set fully defined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20040" y="3986784"/>
            <a:ext cx="3931920" cy="502920"/>
          </a:xfrm>
          <a:prstGeom prst="rect">
            <a:avLst/>
          </a:prstGeom>
          <a:solidFill>
            <a:srgbClr val="111827"/>
          </a:solidFill>
          <a:ln w="6350">
            <a:solidFill>
              <a:srgbClr val="14532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" name="Shape 21"/>
          <p:cNvSpPr/>
          <p:nvPr/>
        </p:nvSpPr>
        <p:spPr>
          <a:xfrm>
            <a:off x="320040" y="3986784"/>
            <a:ext cx="45720" cy="50292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4" name="Text 22"/>
          <p:cNvSpPr/>
          <p:nvPr/>
        </p:nvSpPr>
        <p:spPr>
          <a:xfrm>
            <a:off x="502920" y="40233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C55E"/>
                </a:solidFill>
              </a:rPr>
              <a:t>API stack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02920" y="4233672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Rainforest + Keepa + Claude API integrated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572000" y="1261872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83FF"/>
                </a:solidFill>
              </a:rPr>
              <a:t>→  Coming up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0" y="1572768"/>
            <a:ext cx="4297680" cy="694944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8" name="Shape 26"/>
          <p:cNvSpPr/>
          <p:nvPr/>
        </p:nvSpPr>
        <p:spPr>
          <a:xfrm>
            <a:off x="4572000" y="1572768"/>
            <a:ext cx="45720" cy="694944"/>
          </a:xfrm>
          <a:prstGeom prst="rect">
            <a:avLst/>
          </a:prstGeom>
          <a:solidFill>
            <a:srgbClr val="6C63F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9" name="Text 27"/>
          <p:cNvSpPr/>
          <p:nvPr/>
        </p:nvSpPr>
        <p:spPr>
          <a:xfrm>
            <a:off x="4736592" y="1627632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C63FF"/>
                </a:solidFill>
              </a:rPr>
              <a:t>Phase 1 · Q3 2025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736592" y="1865376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10 core features · Turkish + 3 languages · Launch on ProductHunt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572000" y="2377440"/>
            <a:ext cx="4297680" cy="694944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2" name="Shape 30"/>
          <p:cNvSpPr/>
          <p:nvPr/>
        </p:nvSpPr>
        <p:spPr>
          <a:xfrm>
            <a:off x="4572000" y="2377440"/>
            <a:ext cx="45720" cy="69494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3" name="Text 31"/>
          <p:cNvSpPr/>
          <p:nvPr/>
        </p:nvSpPr>
        <p:spPr>
          <a:xfrm>
            <a:off x="4736592" y="2432304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E9"/>
                </a:solidFill>
              </a:rPr>
              <a:t>Phase 2 · Q1 2026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736592" y="267004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Chrome extension · Trend Radar · Keyword Explorer · 6 languages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572000" y="3182112"/>
            <a:ext cx="4297680" cy="694944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6" name="Shape 34"/>
          <p:cNvSpPr/>
          <p:nvPr/>
        </p:nvSpPr>
        <p:spPr>
          <a:xfrm>
            <a:off x="4572000" y="3182112"/>
            <a:ext cx="45720" cy="69494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7" name="Text 35"/>
          <p:cNvSpPr/>
          <p:nvPr/>
        </p:nvSpPr>
        <p:spPr>
          <a:xfrm>
            <a:off x="4736592" y="3236976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Phase 3 · Q3 2026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736592" y="347472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iOS / Android app · Barcode scanner · Japan &amp; Korea markets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572000" y="3986784"/>
            <a:ext cx="4297680" cy="694944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0" name="Shape 38"/>
          <p:cNvSpPr/>
          <p:nvPr/>
        </p:nvSpPr>
        <p:spPr>
          <a:xfrm>
            <a:off x="4572000" y="3986784"/>
            <a:ext cx="45720" cy="694944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1" name="Text 39"/>
          <p:cNvSpPr/>
          <p:nvPr/>
        </p:nvSpPr>
        <p:spPr>
          <a:xfrm>
            <a:off x="4736592" y="4041648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C55E"/>
                </a:solidFill>
              </a:rPr>
              <a:t>Phase 4 · 2027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736592" y="4279392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White-label B2B · Google Trends deep integration · Patent scanner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841248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8 / 16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320040" y="25603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59E0B"/>
                </a:solidFill>
              </a:rPr>
              <a:t>GO-TO-MARKET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Community-led growth, then paid scale.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28600" y="1325880"/>
            <a:ext cx="2834640" cy="3520440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228600" y="1325880"/>
            <a:ext cx="2834640" cy="329184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228600" y="132588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50" dirty="0">
                <a:solidFill>
                  <a:srgbClr val="F1F5F9"/>
                </a:solidFill>
              </a:rPr>
              <a:t>Month 1–3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38328" y="1737360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F5F9"/>
                </a:solidFill>
              </a:rPr>
              <a:t>Seed Community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38328" y="2121408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C55E"/>
                </a:solidFill>
              </a:rPr>
              <a:t>→  </a:t>
            </a:r>
            <a:r>
              <a:rPr lang="en-US" sz="900" dirty="0">
                <a:solidFill>
                  <a:srgbClr val="64748B"/>
                </a:solidFill>
              </a:rPr>
              <a:t>Turkish Amazon seller Facebook groups (50K+ members)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38328" y="2734056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C55E"/>
                </a:solidFill>
              </a:rPr>
              <a:t>→  </a:t>
            </a:r>
            <a:r>
              <a:rPr lang="en-US" sz="900" dirty="0">
                <a:solidFill>
                  <a:srgbClr val="64748B"/>
                </a:solidFill>
              </a:rPr>
              <a:t>ProductHunt launch — target #1 of the day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38328" y="3346704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C55E"/>
                </a:solidFill>
              </a:rPr>
              <a:t>→  </a:t>
            </a:r>
            <a:r>
              <a:rPr lang="en-US" sz="900" dirty="0">
                <a:solidFill>
                  <a:srgbClr val="64748B"/>
                </a:solidFill>
              </a:rPr>
              <a:t>YouTube tutorials — TR/EN niche research guides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38328" y="395935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C55E"/>
                </a:solidFill>
              </a:rPr>
              <a:t>→  </a:t>
            </a:r>
            <a:r>
              <a:rPr lang="en-US" sz="900" dirty="0">
                <a:solidFill>
                  <a:srgbClr val="64748B"/>
                </a:solidFill>
              </a:rPr>
              <a:t>Free tier as acquisition hook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0" y="1325880"/>
            <a:ext cx="2834640" cy="3520440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Shape 12"/>
          <p:cNvSpPr/>
          <p:nvPr/>
        </p:nvSpPr>
        <p:spPr>
          <a:xfrm>
            <a:off x="3200400" y="1325880"/>
            <a:ext cx="2834640" cy="329184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3200400" y="132588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50" dirty="0">
                <a:solidFill>
                  <a:srgbClr val="F1F5F9"/>
                </a:solidFill>
              </a:rPr>
              <a:t>Month 4–9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310128" y="1737360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F5F9"/>
                </a:solidFill>
              </a:rPr>
              <a:t>Content &amp; SEO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10128" y="2121408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A5E9"/>
                </a:solidFill>
              </a:rPr>
              <a:t>→  </a:t>
            </a:r>
            <a:r>
              <a:rPr lang="en-US" sz="900" dirty="0">
                <a:solidFill>
                  <a:srgbClr val="64748B"/>
                </a:solidFill>
              </a:rPr>
              <a:t>4 blog posts/month targeting 'Amazon FBA Turkey' keywords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310128" y="2734056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A5E9"/>
                </a:solidFill>
              </a:rPr>
              <a:t>→  </a:t>
            </a:r>
            <a:r>
              <a:rPr lang="en-US" sz="900" dirty="0">
                <a:solidFill>
                  <a:srgbClr val="64748B"/>
                </a:solidFill>
              </a:rPr>
              <a:t>2 YouTube videos/month — Turkish Amazon seller tips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310128" y="3346704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A5E9"/>
                </a:solidFill>
              </a:rPr>
              <a:t>→  </a:t>
            </a:r>
            <a:r>
              <a:rPr lang="en-US" sz="900" dirty="0">
                <a:solidFill>
                  <a:srgbClr val="64748B"/>
                </a:solidFill>
              </a:rPr>
              <a:t>E-mail nurture sequence — 8-week onboarding series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10128" y="395935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A5E9"/>
                </a:solidFill>
              </a:rPr>
              <a:t>→  </a:t>
            </a:r>
            <a:r>
              <a:rPr lang="en-US" sz="900" dirty="0">
                <a:solidFill>
                  <a:srgbClr val="64748B"/>
                </a:solidFill>
              </a:rPr>
              <a:t>Partnership with ETID (Turkish e-export association)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172200" y="1325880"/>
            <a:ext cx="2834640" cy="3520440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" name="Shape 20"/>
          <p:cNvSpPr/>
          <p:nvPr/>
        </p:nvSpPr>
        <p:spPr>
          <a:xfrm>
            <a:off x="6172200" y="1325880"/>
            <a:ext cx="2834640" cy="329184"/>
          </a:xfrm>
          <a:prstGeom prst="rect">
            <a:avLst/>
          </a:prstGeom>
          <a:solidFill>
            <a:srgbClr val="6C63F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3" name="Text 21"/>
          <p:cNvSpPr/>
          <p:nvPr/>
        </p:nvSpPr>
        <p:spPr>
          <a:xfrm>
            <a:off x="6172200" y="132588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50" dirty="0">
                <a:solidFill>
                  <a:srgbClr val="F1F5F9"/>
                </a:solidFill>
              </a:rPr>
              <a:t>Month 10–18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281928" y="1737360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F5F9"/>
                </a:solidFill>
              </a:rPr>
              <a:t>Paid &amp; Partnerships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281928" y="2121408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C63FF"/>
                </a:solidFill>
              </a:rPr>
              <a:t>→  </a:t>
            </a:r>
            <a:r>
              <a:rPr lang="en-US" sz="900" dirty="0">
                <a:solidFill>
                  <a:srgbClr val="64748B"/>
                </a:solidFill>
              </a:rPr>
              <a:t>Google Ads — Amazon FBA seller segment, CPA target &lt;$50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281928" y="2734056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C63FF"/>
                </a:solidFill>
              </a:rPr>
              <a:t>→  </a:t>
            </a:r>
            <a:r>
              <a:rPr lang="en-US" sz="900" dirty="0">
                <a:solidFill>
                  <a:srgbClr val="64748B"/>
                </a:solidFill>
              </a:rPr>
              <a:t>Affiliate program — 30% recurring for 12 months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281928" y="3346704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C63FF"/>
                </a:solidFill>
              </a:rPr>
              <a:t>→  </a:t>
            </a:r>
            <a:r>
              <a:rPr lang="en-US" sz="900" dirty="0">
                <a:solidFill>
                  <a:srgbClr val="64748B"/>
                </a:solidFill>
              </a:rPr>
              <a:t>LinkedIn B2B — e-commerce agency decision makers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281928" y="395935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C63FF"/>
                </a:solidFill>
              </a:rPr>
              <a:t>→  </a:t>
            </a:r>
            <a:r>
              <a:rPr lang="en-US" sz="900" dirty="0">
                <a:solidFill>
                  <a:srgbClr val="64748B"/>
                </a:solidFill>
              </a:rPr>
              <a:t>Amazon seller conference sponsorships (2 events/year)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28600" y="4663440"/>
            <a:ext cx="8686800" cy="274320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0" name="Text 28"/>
          <p:cNvSpPr/>
          <p:nvPr/>
        </p:nvSpPr>
        <p:spPr>
          <a:xfrm>
            <a:off x="228600" y="4663440"/>
            <a:ext cx="2176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59E0B"/>
                </a:solidFill>
              </a:rPr>
              <a:t>100 users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59E0B"/>
                </a:solidFill>
              </a:rPr>
              <a:t>Month 3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2404872" y="4663440"/>
            <a:ext cx="2176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59E0B"/>
                </a:solidFill>
              </a:rPr>
              <a:t>500 MRR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59E0B"/>
                </a:solidFill>
              </a:rPr>
              <a:t>Month 6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581144" y="4663440"/>
            <a:ext cx="2176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59E0B"/>
                </a:solidFill>
              </a:rPr>
              <a:t>$10K MRR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59E0B"/>
                </a:solidFill>
              </a:rPr>
              <a:t>Month 9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757416" y="4663440"/>
            <a:ext cx="2176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59E0B"/>
                </a:solidFill>
              </a:rPr>
              <a:t>$50K MRR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59E0B"/>
                </a:solidFill>
              </a:rPr>
              <a:t>Month 18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841248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9 / 16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320040" y="25603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22C55E"/>
                </a:solidFill>
              </a:rPr>
              <a:t>FINANCIALS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to profitability in 18 months.</a:t>
            </a:r>
            <a:endParaRPr lang="en-US" sz="28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20040" y="1234440"/>
          <a:ext cx="502920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532120" y="1234440"/>
            <a:ext cx="1691640" cy="868680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4"/>
          <p:cNvSpPr/>
          <p:nvPr/>
        </p:nvSpPr>
        <p:spPr>
          <a:xfrm>
            <a:off x="5532120" y="1325880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2C55E"/>
                </a:solidFill>
              </a:rPr>
              <a:t>₺3.48M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5532120" y="173736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18M Budget (TÜBİTAK)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7360920" y="1234440"/>
            <a:ext cx="1691640" cy="868680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7"/>
          <p:cNvSpPr/>
          <p:nvPr/>
        </p:nvSpPr>
        <p:spPr>
          <a:xfrm>
            <a:off x="7360920" y="1325880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EA5E9"/>
                </a:solidFill>
              </a:rPr>
              <a:t>$39/mo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7360920" y="173736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Avg. Revenue/User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5532120" y="2258568"/>
            <a:ext cx="1691640" cy="868680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 10"/>
          <p:cNvSpPr/>
          <p:nvPr/>
        </p:nvSpPr>
        <p:spPr>
          <a:xfrm>
            <a:off x="5532120" y="2350008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9E0B"/>
                </a:solidFill>
              </a:rPr>
              <a:t>&lt;$50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5532120" y="2761488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CAC Target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7360920" y="2258568"/>
            <a:ext cx="1691640" cy="868680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Text 13"/>
          <p:cNvSpPr/>
          <p:nvPr/>
        </p:nvSpPr>
        <p:spPr>
          <a:xfrm>
            <a:off x="7360920" y="2350008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C63FF"/>
                </a:solidFill>
              </a:rPr>
              <a:t>&gt;12x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7360920" y="2761488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LTV/CAC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5532120" y="3282696"/>
            <a:ext cx="1691640" cy="868680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Text 16"/>
          <p:cNvSpPr/>
          <p:nvPr/>
        </p:nvSpPr>
        <p:spPr>
          <a:xfrm>
            <a:off x="5532120" y="3374136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2C55E"/>
                </a:solidFill>
              </a:rPr>
              <a:t>850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5532120" y="3785616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Break-even (users)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7360920" y="3282696"/>
            <a:ext cx="1691640" cy="868680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" name="Text 19"/>
          <p:cNvSpPr/>
          <p:nvPr/>
        </p:nvSpPr>
        <p:spPr>
          <a:xfrm>
            <a:off x="7360920" y="3374136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EA5E9"/>
                </a:solidFill>
              </a:rPr>
              <a:t>$1.5M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7360920" y="3785616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Year 2 ARR Target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5532120" y="4224528"/>
            <a:ext cx="3383280" cy="594360"/>
          </a:xfrm>
          <a:prstGeom prst="rect">
            <a:avLst/>
          </a:prstGeom>
          <a:solidFill>
            <a:srgbClr val="0B1F0B"/>
          </a:solidFill>
          <a:ln w="889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5" name="Text 22"/>
          <p:cNvSpPr/>
          <p:nvPr/>
        </p:nvSpPr>
        <p:spPr>
          <a:xfrm>
            <a:off x="5532120" y="4224528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2C55E"/>
                </a:solidFill>
              </a:rPr>
              <a:t>$60K MRR by Month 18 = $720K ARR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22C55E"/>
                </a:solidFill>
              </a:rPr>
              <a:t>Target: Series A readiness by Q3 2027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841248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10 / 16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320040" y="25603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EA5E9"/>
                </a:solidFill>
              </a:rPr>
              <a:t>TECHNOLOGY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battle-tested, scalable infrastructure.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1325880"/>
            <a:ext cx="2834640" cy="1051560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228600" y="1325880"/>
            <a:ext cx="2834640" cy="4572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365760" y="141732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50" dirty="0">
                <a:solidFill>
                  <a:srgbClr val="0EA5E9"/>
                </a:solidFill>
              </a:rPr>
              <a:t>Frontend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161848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F5F9"/>
                </a:solidFill>
              </a:rPr>
              <a:t>React + Vite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19202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CSS Modules, i18next (4 langs)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200400" y="1325880"/>
            <a:ext cx="2834640" cy="1051560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Shape 9"/>
          <p:cNvSpPr/>
          <p:nvPr/>
        </p:nvSpPr>
        <p:spPr>
          <a:xfrm>
            <a:off x="3200400" y="1325880"/>
            <a:ext cx="2834640" cy="45720"/>
          </a:xfrm>
          <a:prstGeom prst="rect">
            <a:avLst/>
          </a:prstGeom>
          <a:solidFill>
            <a:srgbClr val="6C63F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3337560" y="141732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50" dirty="0">
                <a:solidFill>
                  <a:srgbClr val="6C63FF"/>
                </a:solidFill>
              </a:rPr>
              <a:t>Backend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337560" y="161848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F5F9"/>
                </a:solidFill>
              </a:rPr>
              <a:t>Python FastAPI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37560" y="19202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Async, REST + WebSocket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172200" y="1325880"/>
            <a:ext cx="2834640" cy="1051560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Shape 14"/>
          <p:cNvSpPr/>
          <p:nvPr/>
        </p:nvSpPr>
        <p:spPr>
          <a:xfrm>
            <a:off x="6172200" y="1325880"/>
            <a:ext cx="2834640" cy="4572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6309360" y="141732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50" dirty="0">
                <a:solidFill>
                  <a:srgbClr val="22C55E"/>
                </a:solidFill>
              </a:rPr>
              <a:t>Database / Auth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309360" y="161848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F5F9"/>
                </a:solidFill>
              </a:rPr>
              <a:t>Supabase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09360" y="19202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PostgreSQL + RLS row security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28600" y="2496312"/>
            <a:ext cx="2834640" cy="1051560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Shape 19"/>
          <p:cNvSpPr/>
          <p:nvPr/>
        </p:nvSpPr>
        <p:spPr>
          <a:xfrm>
            <a:off x="228600" y="2496312"/>
            <a:ext cx="2834640" cy="45720"/>
          </a:xfrm>
          <a:prstGeom prst="rect">
            <a:avLst/>
          </a:prstGeom>
          <a:solidFill>
            <a:srgbClr val="6C63F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2" name="Text 20"/>
          <p:cNvSpPr/>
          <p:nvPr/>
        </p:nvSpPr>
        <p:spPr>
          <a:xfrm>
            <a:off x="365760" y="2587752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50" dirty="0">
                <a:solidFill>
                  <a:srgbClr val="6C63FF"/>
                </a:solidFill>
              </a:rPr>
              <a:t>AI Engine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65760" y="27889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F5F9"/>
                </a:solidFill>
              </a:rPr>
              <a:t>Claude API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65760" y="309067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Niche score commentary + AI insights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200400" y="2496312"/>
            <a:ext cx="2834640" cy="1051560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6" name="Shape 24"/>
          <p:cNvSpPr/>
          <p:nvPr/>
        </p:nvSpPr>
        <p:spPr>
          <a:xfrm>
            <a:off x="3200400" y="2496312"/>
            <a:ext cx="2834640" cy="4572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7" name="Text 25"/>
          <p:cNvSpPr/>
          <p:nvPr/>
        </p:nvSpPr>
        <p:spPr>
          <a:xfrm>
            <a:off x="3337560" y="2587752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50" dirty="0">
                <a:solidFill>
                  <a:srgbClr val="0EA5E9"/>
                </a:solidFill>
              </a:rPr>
              <a:t>Amazon Data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337560" y="27889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F5F9"/>
                </a:solidFill>
              </a:rPr>
              <a:t>Rainforest + Keepa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337560" y="309067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Real-time + 90-day BSR history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172200" y="2496312"/>
            <a:ext cx="2834640" cy="1051560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1" name="Shape 29"/>
          <p:cNvSpPr/>
          <p:nvPr/>
        </p:nvSpPr>
        <p:spPr>
          <a:xfrm>
            <a:off x="6172200" y="2496312"/>
            <a:ext cx="2834640" cy="457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2" name="Text 30"/>
          <p:cNvSpPr/>
          <p:nvPr/>
        </p:nvSpPr>
        <p:spPr>
          <a:xfrm>
            <a:off x="6309360" y="2587752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50" dirty="0">
                <a:solidFill>
                  <a:srgbClr val="F59E0B"/>
                </a:solidFill>
              </a:rPr>
              <a:t>Trend Data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309360" y="27889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F5F9"/>
                </a:solidFill>
              </a:rPr>
              <a:t>G.Trends + TikTok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309360" y="309067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Glimpse API + RapidAPI layer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28600" y="3666744"/>
            <a:ext cx="2834640" cy="1051560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6" name="Shape 34"/>
          <p:cNvSpPr/>
          <p:nvPr/>
        </p:nvSpPr>
        <p:spPr>
          <a:xfrm>
            <a:off x="228600" y="3666744"/>
            <a:ext cx="2834640" cy="4572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7" name="Text 35"/>
          <p:cNvSpPr/>
          <p:nvPr/>
        </p:nvSpPr>
        <p:spPr>
          <a:xfrm>
            <a:off x="365760" y="3758184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50" dirty="0">
                <a:solidFill>
                  <a:srgbClr val="22C55E"/>
                </a:solidFill>
              </a:rPr>
              <a:t>Payments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65760" y="395935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F5F9"/>
                </a:solidFill>
              </a:rPr>
              <a:t>Stripe → Paddle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365760" y="4261104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Phase 1 → Phase 2 global VAT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200400" y="3666744"/>
            <a:ext cx="2834640" cy="1051560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1" name="Shape 39"/>
          <p:cNvSpPr/>
          <p:nvPr/>
        </p:nvSpPr>
        <p:spPr>
          <a:xfrm>
            <a:off x="3200400" y="3666744"/>
            <a:ext cx="2834640" cy="4572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2" name="Text 40"/>
          <p:cNvSpPr/>
          <p:nvPr/>
        </p:nvSpPr>
        <p:spPr>
          <a:xfrm>
            <a:off x="3337560" y="3758184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50" dirty="0">
                <a:solidFill>
                  <a:srgbClr val="0EA5E9"/>
                </a:solidFill>
              </a:rPr>
              <a:t>Hosting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3337560" y="395935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F5F9"/>
                </a:solidFill>
              </a:rPr>
              <a:t>Vercel + Railway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3337560" y="4261104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Auto-scale, preview deploys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172200" y="3666744"/>
            <a:ext cx="2834640" cy="1051560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6" name="Shape 44"/>
          <p:cNvSpPr/>
          <p:nvPr/>
        </p:nvSpPr>
        <p:spPr>
          <a:xfrm>
            <a:off x="6172200" y="3666744"/>
            <a:ext cx="2834640" cy="45720"/>
          </a:xfrm>
          <a:prstGeom prst="rect">
            <a:avLst/>
          </a:prstGeom>
          <a:solidFill>
            <a:srgbClr val="E53E3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7" name="Text 45"/>
          <p:cNvSpPr/>
          <p:nvPr/>
        </p:nvSpPr>
        <p:spPr>
          <a:xfrm>
            <a:off x="6309360" y="3758184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50" dirty="0">
                <a:solidFill>
                  <a:srgbClr val="E53E3E"/>
                </a:solidFill>
              </a:rPr>
              <a:t>Cache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309360" y="395935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F5F9"/>
                </a:solidFill>
              </a:rPr>
              <a:t>Redis (Upstash)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6309360" y="4261104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24–48h TTL, 70% API cost saving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841248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11 / 16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6C63F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320040" y="25603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8B83FF"/>
                </a:solidFill>
              </a:rPr>
              <a:t>TEAM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experts. Execution focused.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01168" y="1325880"/>
            <a:ext cx="2011680" cy="3520440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749808" y="1444752"/>
            <a:ext cx="914400" cy="914400"/>
          </a:xfrm>
          <a:prstGeom prst="ellipse">
            <a:avLst/>
          </a:prstGeom>
          <a:solidFill>
            <a:srgbClr val="6C63FF">
              <a:alpha val="50000"/>
            </a:srgbClr>
          </a:solidFill>
          <a:ln w="12700">
            <a:solidFill>
              <a:srgbClr val="6C63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749808" y="1444752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1F5F9"/>
                </a:solidFill>
              </a:rPr>
              <a:t>G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201168" y="245059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1F5F9"/>
                </a:solidFill>
              </a:rPr>
              <a:t>Gokhan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01168" y="272491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C63FF"/>
                </a:solidFill>
              </a:rPr>
              <a:t>Founder &amp; CEO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38328" y="2999232"/>
            <a:ext cx="173736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310896" y="3063240"/>
            <a:ext cx="179222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Amazon seller with 5+ years experience. Full-stack developer. Product visionary behind AmazenLens.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10896" y="4023360"/>
            <a:ext cx="566928" cy="201168"/>
          </a:xfrm>
          <a:prstGeom prst="roundRect">
            <a:avLst>
              <a:gd name="adj" fmla="val 22727"/>
            </a:avLst>
          </a:prstGeom>
          <a:solidFill>
            <a:srgbClr val="1E293B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310896" y="402336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4748B"/>
                </a:solidFill>
              </a:rPr>
              <a:t>Amazon FBA</a:t>
            </a: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932688" y="4023360"/>
            <a:ext cx="566928" cy="201168"/>
          </a:xfrm>
          <a:prstGeom prst="roundRect">
            <a:avLst>
              <a:gd name="adj" fmla="val 22727"/>
            </a:avLst>
          </a:prstGeom>
          <a:solidFill>
            <a:srgbClr val="1E293B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932688" y="402336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4748B"/>
                </a:solidFill>
              </a:rPr>
              <a:t>Product Strategy</a:t>
            </a:r>
            <a:endParaRPr lang="en-US" sz="650" dirty="0"/>
          </a:p>
        </p:txBody>
      </p:sp>
      <p:sp>
        <p:nvSpPr>
          <p:cNvPr id="16" name="Shape 14"/>
          <p:cNvSpPr/>
          <p:nvPr/>
        </p:nvSpPr>
        <p:spPr>
          <a:xfrm>
            <a:off x="1554480" y="4023360"/>
            <a:ext cx="566928" cy="201168"/>
          </a:xfrm>
          <a:prstGeom prst="roundRect">
            <a:avLst>
              <a:gd name="adj" fmla="val 22727"/>
            </a:avLst>
          </a:prstGeom>
          <a:solidFill>
            <a:srgbClr val="1E293B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1554480" y="402336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4748B"/>
                </a:solidFill>
              </a:rPr>
              <a:t>Full-Stack Dev</a:t>
            </a:r>
            <a:endParaRPr lang="en-US" sz="650" dirty="0"/>
          </a:p>
        </p:txBody>
      </p:sp>
      <p:sp>
        <p:nvSpPr>
          <p:cNvPr id="18" name="Shape 16"/>
          <p:cNvSpPr/>
          <p:nvPr/>
        </p:nvSpPr>
        <p:spPr>
          <a:xfrm>
            <a:off x="2414016" y="1325880"/>
            <a:ext cx="2011680" cy="3520440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Shape 17"/>
          <p:cNvSpPr/>
          <p:nvPr/>
        </p:nvSpPr>
        <p:spPr>
          <a:xfrm>
            <a:off x="2962656" y="1444752"/>
            <a:ext cx="914400" cy="914400"/>
          </a:xfrm>
          <a:prstGeom prst="ellipse">
            <a:avLst/>
          </a:prstGeom>
          <a:solidFill>
            <a:srgbClr val="0EA5E9">
              <a:alpha val="50000"/>
            </a:srgbClr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/>
          <p:nvPr/>
        </p:nvSpPr>
        <p:spPr>
          <a:xfrm>
            <a:off x="2962656" y="1444752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1F5F9"/>
                </a:solidFill>
              </a:rPr>
              <a:t>B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2414016" y="245059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1F5F9"/>
                </a:solidFill>
              </a:rPr>
              <a:t>Backend Dev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414016" y="272491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EA5E9"/>
                </a:solidFill>
              </a:rPr>
              <a:t>Senior Backend Engineer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551176" y="2999232"/>
            <a:ext cx="173736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4" name="Text 22"/>
          <p:cNvSpPr/>
          <p:nvPr/>
        </p:nvSpPr>
        <p:spPr>
          <a:xfrm>
            <a:off x="2523744" y="3063240"/>
            <a:ext cx="179222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FastAPI + Supabase specialist. Async API architecture. Previously scaled SaaS to 100K+ users.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523744" y="4023360"/>
            <a:ext cx="566928" cy="201168"/>
          </a:xfrm>
          <a:prstGeom prst="roundRect">
            <a:avLst>
              <a:gd name="adj" fmla="val 22727"/>
            </a:avLst>
          </a:prstGeom>
          <a:solidFill>
            <a:srgbClr val="1E293B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6" name="Text 24"/>
          <p:cNvSpPr/>
          <p:nvPr/>
        </p:nvSpPr>
        <p:spPr>
          <a:xfrm>
            <a:off x="2523744" y="402336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4748B"/>
                </a:solidFill>
              </a:rPr>
              <a:t>FastAPI</a:t>
            </a:r>
            <a:endParaRPr lang="en-US" sz="650" dirty="0"/>
          </a:p>
        </p:txBody>
      </p:sp>
      <p:sp>
        <p:nvSpPr>
          <p:cNvPr id="27" name="Shape 25"/>
          <p:cNvSpPr/>
          <p:nvPr/>
        </p:nvSpPr>
        <p:spPr>
          <a:xfrm>
            <a:off x="3145536" y="4023360"/>
            <a:ext cx="566928" cy="201168"/>
          </a:xfrm>
          <a:prstGeom prst="roundRect">
            <a:avLst>
              <a:gd name="adj" fmla="val 22727"/>
            </a:avLst>
          </a:prstGeom>
          <a:solidFill>
            <a:srgbClr val="1E293B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8" name="Text 26"/>
          <p:cNvSpPr/>
          <p:nvPr/>
        </p:nvSpPr>
        <p:spPr>
          <a:xfrm>
            <a:off x="3145536" y="402336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4748B"/>
                </a:solidFill>
              </a:rPr>
              <a:t>PostgreSQL</a:t>
            </a:r>
            <a:endParaRPr lang="en-US" sz="650" dirty="0"/>
          </a:p>
        </p:txBody>
      </p:sp>
      <p:sp>
        <p:nvSpPr>
          <p:cNvPr id="29" name="Shape 27"/>
          <p:cNvSpPr/>
          <p:nvPr/>
        </p:nvSpPr>
        <p:spPr>
          <a:xfrm>
            <a:off x="3767328" y="4023360"/>
            <a:ext cx="566928" cy="201168"/>
          </a:xfrm>
          <a:prstGeom prst="roundRect">
            <a:avLst>
              <a:gd name="adj" fmla="val 22727"/>
            </a:avLst>
          </a:prstGeom>
          <a:solidFill>
            <a:srgbClr val="1E293B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0" name="Text 28"/>
          <p:cNvSpPr/>
          <p:nvPr/>
        </p:nvSpPr>
        <p:spPr>
          <a:xfrm>
            <a:off x="3767328" y="402336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4748B"/>
                </a:solidFill>
              </a:rPr>
              <a:t>API Design</a:t>
            </a:r>
            <a:endParaRPr lang="en-US" sz="650" dirty="0"/>
          </a:p>
        </p:txBody>
      </p:sp>
      <p:sp>
        <p:nvSpPr>
          <p:cNvPr id="31" name="Shape 29"/>
          <p:cNvSpPr/>
          <p:nvPr/>
        </p:nvSpPr>
        <p:spPr>
          <a:xfrm>
            <a:off x="4626864" y="1325880"/>
            <a:ext cx="2011680" cy="3520440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2" name="Shape 30"/>
          <p:cNvSpPr/>
          <p:nvPr/>
        </p:nvSpPr>
        <p:spPr>
          <a:xfrm>
            <a:off x="5175504" y="1444752"/>
            <a:ext cx="914400" cy="914400"/>
          </a:xfrm>
          <a:prstGeom prst="ellipse">
            <a:avLst/>
          </a:prstGeom>
          <a:solidFill>
            <a:srgbClr val="F59E0B">
              <a:alpha val="5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3" name="Text 31"/>
          <p:cNvSpPr/>
          <p:nvPr/>
        </p:nvSpPr>
        <p:spPr>
          <a:xfrm>
            <a:off x="5175504" y="1444752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1F5F9"/>
                </a:solidFill>
              </a:rPr>
              <a:t>A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4626864" y="245059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1F5F9"/>
                </a:solidFill>
              </a:rPr>
              <a:t>AI/ML Engineer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626864" y="272491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9E0B"/>
                </a:solidFill>
              </a:rPr>
              <a:t>AI &amp; Data Scientist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764024" y="2999232"/>
            <a:ext cx="173736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7" name="Text 35"/>
          <p:cNvSpPr/>
          <p:nvPr/>
        </p:nvSpPr>
        <p:spPr>
          <a:xfrm>
            <a:off x="4736592" y="3063240"/>
            <a:ext cx="179222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NLP + LLM integration expert. Designed niche scoring algorithm and Claude API integration.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736592" y="4023360"/>
            <a:ext cx="566928" cy="201168"/>
          </a:xfrm>
          <a:prstGeom prst="roundRect">
            <a:avLst>
              <a:gd name="adj" fmla="val 22727"/>
            </a:avLst>
          </a:prstGeom>
          <a:solidFill>
            <a:srgbClr val="1E293B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9" name="Text 37"/>
          <p:cNvSpPr/>
          <p:nvPr/>
        </p:nvSpPr>
        <p:spPr>
          <a:xfrm>
            <a:off x="4736592" y="402336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4748B"/>
                </a:solidFill>
              </a:rPr>
              <a:t>Claude API</a:t>
            </a:r>
            <a:endParaRPr lang="en-US" sz="650" dirty="0"/>
          </a:p>
        </p:txBody>
      </p:sp>
      <p:sp>
        <p:nvSpPr>
          <p:cNvPr id="40" name="Shape 38"/>
          <p:cNvSpPr/>
          <p:nvPr/>
        </p:nvSpPr>
        <p:spPr>
          <a:xfrm>
            <a:off x="5358384" y="4023360"/>
            <a:ext cx="566928" cy="201168"/>
          </a:xfrm>
          <a:prstGeom prst="roundRect">
            <a:avLst>
              <a:gd name="adj" fmla="val 22727"/>
            </a:avLst>
          </a:prstGeom>
          <a:solidFill>
            <a:srgbClr val="1E293B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1" name="Text 39"/>
          <p:cNvSpPr/>
          <p:nvPr/>
        </p:nvSpPr>
        <p:spPr>
          <a:xfrm>
            <a:off x="5358384" y="402336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4748B"/>
                </a:solidFill>
              </a:rPr>
              <a:t>Python</a:t>
            </a:r>
            <a:endParaRPr lang="en-US" sz="650" dirty="0"/>
          </a:p>
        </p:txBody>
      </p:sp>
      <p:sp>
        <p:nvSpPr>
          <p:cNvPr id="42" name="Shape 40"/>
          <p:cNvSpPr/>
          <p:nvPr/>
        </p:nvSpPr>
        <p:spPr>
          <a:xfrm>
            <a:off x="5980176" y="4023360"/>
            <a:ext cx="566928" cy="201168"/>
          </a:xfrm>
          <a:prstGeom prst="roundRect">
            <a:avLst>
              <a:gd name="adj" fmla="val 22727"/>
            </a:avLst>
          </a:prstGeom>
          <a:solidFill>
            <a:srgbClr val="1E293B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3" name="Text 41"/>
          <p:cNvSpPr/>
          <p:nvPr/>
        </p:nvSpPr>
        <p:spPr>
          <a:xfrm>
            <a:off x="5980176" y="402336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4748B"/>
                </a:solidFill>
              </a:rPr>
              <a:t>Data Science</a:t>
            </a:r>
            <a:endParaRPr lang="en-US" sz="650" dirty="0"/>
          </a:p>
        </p:txBody>
      </p:sp>
      <p:sp>
        <p:nvSpPr>
          <p:cNvPr id="44" name="Shape 42"/>
          <p:cNvSpPr/>
          <p:nvPr/>
        </p:nvSpPr>
        <p:spPr>
          <a:xfrm>
            <a:off x="6839712" y="1325880"/>
            <a:ext cx="2011680" cy="3520440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5" name="Shape 43"/>
          <p:cNvSpPr/>
          <p:nvPr/>
        </p:nvSpPr>
        <p:spPr>
          <a:xfrm>
            <a:off x="7388352" y="1444752"/>
            <a:ext cx="914400" cy="914400"/>
          </a:xfrm>
          <a:prstGeom prst="ellipse">
            <a:avLst/>
          </a:prstGeom>
          <a:solidFill>
            <a:srgbClr val="22C55E">
              <a:alpha val="50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6" name="Text 44"/>
          <p:cNvSpPr/>
          <p:nvPr/>
        </p:nvSpPr>
        <p:spPr>
          <a:xfrm>
            <a:off x="7388352" y="1444752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1F5F9"/>
                </a:solidFill>
              </a:rPr>
              <a:t>A</a:t>
            </a:r>
            <a:endParaRPr lang="en-US" sz="2600" dirty="0"/>
          </a:p>
        </p:txBody>
      </p:sp>
      <p:sp>
        <p:nvSpPr>
          <p:cNvPr id="47" name="Text 45"/>
          <p:cNvSpPr/>
          <p:nvPr/>
        </p:nvSpPr>
        <p:spPr>
          <a:xfrm>
            <a:off x="6839712" y="245059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1F5F9"/>
                </a:solidFill>
              </a:rPr>
              <a:t>Advisors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839712" y="272491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2C55E"/>
                </a:solidFill>
              </a:rPr>
              <a:t>Expert Network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976872" y="2999232"/>
            <a:ext cx="173736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0" name="Text 48"/>
          <p:cNvSpPr/>
          <p:nvPr/>
        </p:nvSpPr>
        <p:spPr>
          <a:xfrm>
            <a:off x="6949440" y="3063240"/>
            <a:ext cx="179222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Amazon marketplace consultants, ETID export advisors, İTÜ Çekirdek mentors.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6949440" y="4023360"/>
            <a:ext cx="566928" cy="201168"/>
          </a:xfrm>
          <a:prstGeom prst="roundRect">
            <a:avLst>
              <a:gd name="adj" fmla="val 22727"/>
            </a:avLst>
          </a:prstGeom>
          <a:solidFill>
            <a:srgbClr val="1E293B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2" name="Text 50"/>
          <p:cNvSpPr/>
          <p:nvPr/>
        </p:nvSpPr>
        <p:spPr>
          <a:xfrm>
            <a:off x="6949440" y="402336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4748B"/>
                </a:solidFill>
              </a:rPr>
              <a:t>Amazon</a:t>
            </a:r>
            <a:endParaRPr lang="en-US" sz="650" dirty="0"/>
          </a:p>
        </p:txBody>
      </p:sp>
      <p:sp>
        <p:nvSpPr>
          <p:cNvPr id="53" name="Shape 51"/>
          <p:cNvSpPr/>
          <p:nvPr/>
        </p:nvSpPr>
        <p:spPr>
          <a:xfrm>
            <a:off x="7571232" y="4023360"/>
            <a:ext cx="566928" cy="201168"/>
          </a:xfrm>
          <a:prstGeom prst="roundRect">
            <a:avLst>
              <a:gd name="adj" fmla="val 22727"/>
            </a:avLst>
          </a:prstGeom>
          <a:solidFill>
            <a:srgbClr val="1E293B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4" name="Text 52"/>
          <p:cNvSpPr/>
          <p:nvPr/>
        </p:nvSpPr>
        <p:spPr>
          <a:xfrm>
            <a:off x="7571232" y="402336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4748B"/>
                </a:solidFill>
              </a:rPr>
              <a:t>Export</a:t>
            </a:r>
            <a:endParaRPr lang="en-US" sz="650" dirty="0"/>
          </a:p>
        </p:txBody>
      </p:sp>
      <p:sp>
        <p:nvSpPr>
          <p:cNvPr id="55" name="Shape 53"/>
          <p:cNvSpPr/>
          <p:nvPr/>
        </p:nvSpPr>
        <p:spPr>
          <a:xfrm>
            <a:off x="8193024" y="4023360"/>
            <a:ext cx="566928" cy="201168"/>
          </a:xfrm>
          <a:prstGeom prst="roundRect">
            <a:avLst>
              <a:gd name="adj" fmla="val 22727"/>
            </a:avLst>
          </a:prstGeom>
          <a:solidFill>
            <a:srgbClr val="1E293B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6" name="Text 54"/>
          <p:cNvSpPr/>
          <p:nvPr/>
        </p:nvSpPr>
        <p:spPr>
          <a:xfrm>
            <a:off x="8193024" y="402336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4748B"/>
                </a:solidFill>
              </a:rPr>
              <a:t>Startup</a:t>
            </a:r>
            <a:endParaRPr lang="en-US" sz="650" dirty="0"/>
          </a:p>
        </p:txBody>
      </p:sp>
      <p:sp>
        <p:nvSpPr>
          <p:cNvPr id="57" name="Text 55"/>
          <p:cNvSpPr/>
          <p:nvPr/>
        </p:nvSpPr>
        <p:spPr>
          <a:xfrm>
            <a:off x="201168" y="4919472"/>
            <a:ext cx="87416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Hiring: Frontend Dev · QA Engineer · Customer Success (Post-funding)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841248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12 / 16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53E3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320040" y="25603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E53E3E"/>
                </a:solidFill>
              </a:rPr>
              <a:t>WHY NOW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timing has never been better.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4160520" cy="1097280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384048" y="14356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1417320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1F5F9"/>
                </a:solidFill>
              </a:rPr>
              <a:t>Amazon Turkey launch 2024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60120" y="1728216"/>
            <a:ext cx="3337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Amazon.com.tr launched — millions of Turkish sellers now have a direct Amazon pathway, but zero research tools in Turkish.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709160" y="1325880"/>
            <a:ext cx="4160520" cy="1097280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4818888" y="14356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394960" y="1417320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1F5F9"/>
                </a:solidFill>
              </a:rPr>
              <a:t>AI-native product research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394960" y="1728216"/>
            <a:ext cx="3337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Claude, GPT-4, and LLMs make intelligent niche commentary and scoring possible for the first time at SaaS price points.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74320" y="2560320"/>
            <a:ext cx="4160520" cy="1097280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384048" y="26700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🇹🇷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60120" y="2651760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1F5F9"/>
                </a:solidFill>
              </a:rPr>
              <a:t>Turkish e-export boom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60120" y="2962656"/>
            <a:ext cx="3337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Turkey's e-export volume grew 2.3x in 3 years. ETID and TÜBİTAK BiGG are actively funding tools in this space.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709160" y="2560320"/>
            <a:ext cx="4160520" cy="1097280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4818888" y="26700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💰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394960" y="2651760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1F5F9"/>
                </a:solidFill>
              </a:rPr>
              <a:t>Competitor price increase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394960" y="2962656"/>
            <a:ext cx="3337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Helium 10 raised prices 40% in 2024. Thousands of sellers are actively looking for alternatives right now.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74320" y="3794760"/>
            <a:ext cx="4160520" cy="1097280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" name="Text 20"/>
          <p:cNvSpPr/>
          <p:nvPr/>
        </p:nvSpPr>
        <p:spPr>
          <a:xfrm>
            <a:off x="384048" y="39044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60120" y="3886200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1F5F9"/>
                </a:solidFill>
              </a:rPr>
              <a:t>TikTok commerce surge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60120" y="4197096"/>
            <a:ext cx="3337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TikTok Shop drove $20B GMV in 2024. Amazon sellers need trend detection tools that include social signals — none exist today.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709160" y="3794760"/>
            <a:ext cx="4160520" cy="1097280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6" name="Text 24"/>
          <p:cNvSpPr/>
          <p:nvPr/>
        </p:nvSpPr>
        <p:spPr>
          <a:xfrm>
            <a:off x="4818888" y="39044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🏆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394960" y="3886200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1F5F9"/>
                </a:solidFill>
              </a:rPr>
              <a:t>First-mover in TR market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394960" y="4197096"/>
            <a:ext cx="3337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No dedicated Turkish Amazon research tool exists. 500K+ Turkish Amazon sellers have zero native-language alternative.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841248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13 / 16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6C63F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320040" y="25603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8B83FF"/>
                </a:solidFill>
              </a:rPr>
              <a:t>THE ASK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raising $200K Pre-Seed.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" y="1261872"/>
            <a:ext cx="4023360" cy="1371600"/>
          </a:xfrm>
          <a:prstGeom prst="rect">
            <a:avLst/>
          </a:prstGeom>
          <a:solidFill>
            <a:srgbClr val="111827"/>
          </a:solidFill>
          <a:ln w="19050">
            <a:solidFill>
              <a:srgbClr val="6C63FF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320040" y="1417320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8B8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$200,000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320040" y="224028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Pre-Seed Round · SAFE Note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0040" y="283464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1F5F9"/>
                </a:solidFill>
              </a:rPr>
              <a:t>Use of funds: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" y="315468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Product &amp; Engineering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520440" y="315468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C63FF"/>
                </a:solidFill>
              </a:rPr>
              <a:t>$150K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" y="3374136"/>
            <a:ext cx="4023360" cy="18288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2" name="Shape 10"/>
          <p:cNvSpPr/>
          <p:nvPr/>
        </p:nvSpPr>
        <p:spPr>
          <a:xfrm>
            <a:off x="320040" y="3374136"/>
            <a:ext cx="3017520" cy="182880"/>
          </a:xfrm>
          <a:prstGeom prst="rect">
            <a:avLst/>
          </a:prstGeom>
          <a:solidFill>
            <a:srgbClr val="6C63F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320040" y="372160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Marketing &amp; Growth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520440" y="3721608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EA5E9"/>
                </a:solidFill>
              </a:rPr>
              <a:t>$30K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0040" y="3941064"/>
            <a:ext cx="4023360" cy="18288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6" name="Shape 14"/>
          <p:cNvSpPr/>
          <p:nvPr/>
        </p:nvSpPr>
        <p:spPr>
          <a:xfrm>
            <a:off x="320040" y="3941064"/>
            <a:ext cx="603504" cy="18288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320040" y="4288536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Operations &amp; Legal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520440" y="4288536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59E0B"/>
                </a:solidFill>
              </a:rPr>
              <a:t>$20K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" y="4507992"/>
            <a:ext cx="4023360" cy="18288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0" name="Shape 18"/>
          <p:cNvSpPr/>
          <p:nvPr/>
        </p:nvSpPr>
        <p:spPr>
          <a:xfrm>
            <a:off x="320040" y="4507992"/>
            <a:ext cx="402336" cy="1828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4572000" y="1261872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1F5F9"/>
                </a:solidFill>
              </a:rPr>
              <a:t>With this capital we will: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0" y="1600200"/>
            <a:ext cx="4297680" cy="475488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" name="Text 21"/>
          <p:cNvSpPr/>
          <p:nvPr/>
        </p:nvSpPr>
        <p:spPr>
          <a:xfrm>
            <a:off x="4709160" y="166420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F5F9"/>
                </a:solidFill>
              </a:rPr>
              <a:t>🚀  Launch AmazenLens publicly (Phase 1)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0" y="2167128"/>
            <a:ext cx="4297680" cy="475488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5" name="Text 23"/>
          <p:cNvSpPr/>
          <p:nvPr/>
        </p:nvSpPr>
        <p:spPr>
          <a:xfrm>
            <a:off x="4709160" y="2231136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F5F9"/>
                </a:solidFill>
              </a:rPr>
              <a:t>👥  Hire 3 key engineers (backend, frontend, AI)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72000" y="2734056"/>
            <a:ext cx="4297680" cy="475488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7" name="Text 25"/>
          <p:cNvSpPr/>
          <p:nvPr/>
        </p:nvSpPr>
        <p:spPr>
          <a:xfrm>
            <a:off x="4709160" y="2798064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F5F9"/>
                </a:solidFill>
              </a:rPr>
              <a:t>📈  Reach 500 paying users in 6 months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572000" y="3300984"/>
            <a:ext cx="4297680" cy="475488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9" name="Text 27"/>
          <p:cNvSpPr/>
          <p:nvPr/>
        </p:nvSpPr>
        <p:spPr>
          <a:xfrm>
            <a:off x="4709160" y="3364992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F5F9"/>
                </a:solidFill>
              </a:rPr>
              <a:t>🌍  Expand to 6 languages &amp; 10 markets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572000" y="3867912"/>
            <a:ext cx="4297680" cy="475488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1" name="Text 29"/>
          <p:cNvSpPr/>
          <p:nvPr/>
        </p:nvSpPr>
        <p:spPr>
          <a:xfrm>
            <a:off x="4709160" y="393192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F5F9"/>
                </a:solidFill>
              </a:rPr>
              <a:t>💰  $10K MRR within 9 months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572000" y="4434840"/>
            <a:ext cx="4297680" cy="475488"/>
          </a:xfrm>
          <a:prstGeom prst="rect">
            <a:avLst/>
          </a:prstGeom>
          <a:solidFill>
            <a:srgbClr val="111827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3" name="Text 31"/>
          <p:cNvSpPr/>
          <p:nvPr/>
        </p:nvSpPr>
        <p:spPr>
          <a:xfrm>
            <a:off x="4709160" y="449884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1F5F9"/>
                </a:solidFill>
              </a:rPr>
              <a:t>🏆  TÜBİTAK BiGG 1512 grant (₺3.48M)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841248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14 / 16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320040" y="25603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59E0B"/>
                </a:solidFill>
              </a:rPr>
              <a:t>MOAT &amp; RISK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5669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Defensible advantages. Eyes-open risks.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126187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C55E"/>
                </a:solidFill>
              </a:rPr>
              <a:t>Our moat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581912"/>
            <a:ext cx="4023360" cy="566928"/>
          </a:xfrm>
          <a:prstGeom prst="rect">
            <a:avLst/>
          </a:prstGeom>
          <a:solidFill>
            <a:srgbClr val="111827"/>
          </a:solidFill>
          <a:ln w="6350">
            <a:solidFill>
              <a:srgbClr val="14532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Shape 5"/>
          <p:cNvSpPr/>
          <p:nvPr/>
        </p:nvSpPr>
        <p:spPr>
          <a:xfrm>
            <a:off x="320040" y="1581912"/>
            <a:ext cx="45720" cy="566928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502920" y="1636776"/>
            <a:ext cx="3703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1F5F9"/>
                </a:solidFill>
              </a:rPr>
              <a:t>First-mover advantage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02920" y="1856232"/>
            <a:ext cx="3703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No Turkish-language Amazon research tool exists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20040" y="2240280"/>
            <a:ext cx="4023360" cy="566928"/>
          </a:xfrm>
          <a:prstGeom prst="rect">
            <a:avLst/>
          </a:prstGeom>
          <a:solidFill>
            <a:srgbClr val="111827"/>
          </a:solidFill>
          <a:ln w="6350">
            <a:solidFill>
              <a:srgbClr val="14532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Shape 9"/>
          <p:cNvSpPr/>
          <p:nvPr/>
        </p:nvSpPr>
        <p:spPr>
          <a:xfrm>
            <a:off x="320040" y="2240280"/>
            <a:ext cx="45720" cy="566928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502920" y="2295144"/>
            <a:ext cx="3703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1F5F9"/>
                </a:solidFill>
              </a:rPr>
              <a:t>Proprietary niche algorithm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02920" y="2514600"/>
            <a:ext cx="3703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100-point scoring with Gini coefficient + RVI logic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0040" y="2898648"/>
            <a:ext cx="4023360" cy="566928"/>
          </a:xfrm>
          <a:prstGeom prst="rect">
            <a:avLst/>
          </a:prstGeom>
          <a:solidFill>
            <a:srgbClr val="111827"/>
          </a:solidFill>
          <a:ln w="6350">
            <a:solidFill>
              <a:srgbClr val="14532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5" name="Shape 13"/>
          <p:cNvSpPr/>
          <p:nvPr/>
        </p:nvSpPr>
        <p:spPr>
          <a:xfrm>
            <a:off x="320040" y="2898648"/>
            <a:ext cx="45720" cy="566928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502920" y="2953512"/>
            <a:ext cx="3703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1F5F9"/>
                </a:solidFill>
              </a:rPr>
              <a:t>Trend Radar (unique signal fusion)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02920" y="3172968"/>
            <a:ext cx="3703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TikTok + Google Trends + BSR — competitors don't have this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20040" y="3557016"/>
            <a:ext cx="4023360" cy="566928"/>
          </a:xfrm>
          <a:prstGeom prst="rect">
            <a:avLst/>
          </a:prstGeom>
          <a:solidFill>
            <a:srgbClr val="111827"/>
          </a:solidFill>
          <a:ln w="6350">
            <a:solidFill>
              <a:srgbClr val="14532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Shape 17"/>
          <p:cNvSpPr/>
          <p:nvPr/>
        </p:nvSpPr>
        <p:spPr>
          <a:xfrm>
            <a:off x="320040" y="3557016"/>
            <a:ext cx="45720" cy="566928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/>
          <p:nvPr/>
        </p:nvSpPr>
        <p:spPr>
          <a:xfrm>
            <a:off x="502920" y="3611880"/>
            <a:ext cx="3703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1F5F9"/>
                </a:solidFill>
              </a:rPr>
              <a:t>Turkish supplier network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02920" y="3831336"/>
            <a:ext cx="3703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KobiVadisi, Bilvio.com, Kolay İhracat integrations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20040" y="4215384"/>
            <a:ext cx="4023360" cy="566928"/>
          </a:xfrm>
          <a:prstGeom prst="rect">
            <a:avLst/>
          </a:prstGeom>
          <a:solidFill>
            <a:srgbClr val="111827"/>
          </a:solidFill>
          <a:ln w="6350">
            <a:solidFill>
              <a:srgbClr val="14532D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3" name="Shape 21"/>
          <p:cNvSpPr/>
          <p:nvPr/>
        </p:nvSpPr>
        <p:spPr>
          <a:xfrm>
            <a:off x="320040" y="4215384"/>
            <a:ext cx="45720" cy="566928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4" name="Text 22"/>
          <p:cNvSpPr/>
          <p:nvPr/>
        </p:nvSpPr>
        <p:spPr>
          <a:xfrm>
            <a:off x="502920" y="4270248"/>
            <a:ext cx="3703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1F5F9"/>
                </a:solidFill>
              </a:rPr>
              <a:t>Data moat over time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02920" y="4489704"/>
            <a:ext cx="3703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User behavior + anonymized niche scores improve AI predictions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572000" y="1261872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53E3E"/>
                </a:solidFill>
              </a:rPr>
              <a:t>Known risks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0" y="1581912"/>
            <a:ext cx="4297680" cy="566928"/>
          </a:xfrm>
          <a:prstGeom prst="rect">
            <a:avLst/>
          </a:prstGeom>
          <a:solidFill>
            <a:srgbClr val="111827"/>
          </a:solidFill>
          <a:ln w="6350">
            <a:solidFill>
              <a:srgbClr val="3D15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8" name="Shape 26"/>
          <p:cNvSpPr/>
          <p:nvPr/>
        </p:nvSpPr>
        <p:spPr>
          <a:xfrm>
            <a:off x="4572000" y="1581912"/>
            <a:ext cx="45720" cy="566928"/>
          </a:xfrm>
          <a:prstGeom prst="rect">
            <a:avLst/>
          </a:prstGeom>
          <a:solidFill>
            <a:srgbClr val="E53E3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9" name="Text 27"/>
          <p:cNvSpPr/>
          <p:nvPr/>
        </p:nvSpPr>
        <p:spPr>
          <a:xfrm>
            <a:off x="4736592" y="1636776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1F5F9"/>
                </a:solidFill>
              </a:rPr>
              <a:t>Amazon ToS changes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736592" y="1856232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Mitigation: API-based stack (Rainforest, SP-API), no direct scraping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572000" y="2240280"/>
            <a:ext cx="4297680" cy="566928"/>
          </a:xfrm>
          <a:prstGeom prst="rect">
            <a:avLst/>
          </a:prstGeom>
          <a:solidFill>
            <a:srgbClr val="111827"/>
          </a:solidFill>
          <a:ln w="6350">
            <a:solidFill>
              <a:srgbClr val="3D15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2" name="Shape 30"/>
          <p:cNvSpPr/>
          <p:nvPr/>
        </p:nvSpPr>
        <p:spPr>
          <a:xfrm>
            <a:off x="4572000" y="2240280"/>
            <a:ext cx="45720" cy="566928"/>
          </a:xfrm>
          <a:prstGeom prst="rect">
            <a:avLst/>
          </a:prstGeom>
          <a:solidFill>
            <a:srgbClr val="E53E3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3" name="Text 31"/>
          <p:cNvSpPr/>
          <p:nvPr/>
        </p:nvSpPr>
        <p:spPr>
          <a:xfrm>
            <a:off x="4736592" y="2295144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1F5F9"/>
                </a:solidFill>
              </a:rPr>
              <a:t>Big competitor copies us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736592" y="2514600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Mitigation: Turkish market speed advantage + 18-month feature lead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572000" y="2898648"/>
            <a:ext cx="4297680" cy="566928"/>
          </a:xfrm>
          <a:prstGeom prst="rect">
            <a:avLst/>
          </a:prstGeom>
          <a:solidFill>
            <a:srgbClr val="111827"/>
          </a:solidFill>
          <a:ln w="6350">
            <a:solidFill>
              <a:srgbClr val="3D15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6" name="Shape 34"/>
          <p:cNvSpPr/>
          <p:nvPr/>
        </p:nvSpPr>
        <p:spPr>
          <a:xfrm>
            <a:off x="4572000" y="2898648"/>
            <a:ext cx="45720" cy="566928"/>
          </a:xfrm>
          <a:prstGeom prst="rect">
            <a:avLst/>
          </a:prstGeom>
          <a:solidFill>
            <a:srgbClr val="E53E3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7" name="Text 35"/>
          <p:cNvSpPr/>
          <p:nvPr/>
        </p:nvSpPr>
        <p:spPr>
          <a:xfrm>
            <a:off x="4736592" y="2953512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1F5F9"/>
                </a:solidFill>
              </a:rPr>
              <a:t>Exchange rate risk (TRY)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736592" y="3172968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Mitigation: USD-denominated pricing, Stripe/Paddle multi-currency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572000" y="3557016"/>
            <a:ext cx="4297680" cy="566928"/>
          </a:xfrm>
          <a:prstGeom prst="rect">
            <a:avLst/>
          </a:prstGeom>
          <a:solidFill>
            <a:srgbClr val="111827"/>
          </a:solidFill>
          <a:ln w="6350">
            <a:solidFill>
              <a:srgbClr val="3D15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0" name="Shape 38"/>
          <p:cNvSpPr/>
          <p:nvPr/>
        </p:nvSpPr>
        <p:spPr>
          <a:xfrm>
            <a:off x="4572000" y="3557016"/>
            <a:ext cx="45720" cy="566928"/>
          </a:xfrm>
          <a:prstGeom prst="rect">
            <a:avLst/>
          </a:prstGeom>
          <a:solidFill>
            <a:srgbClr val="E53E3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1" name="Text 39"/>
          <p:cNvSpPr/>
          <p:nvPr/>
        </p:nvSpPr>
        <p:spPr>
          <a:xfrm>
            <a:off x="4736592" y="3611880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1F5F9"/>
                </a:solidFill>
              </a:rPr>
              <a:t>API cost escalation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736592" y="3831336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Mitigation: Redis caching reduces API calls by 70%; Keepa fixed-cost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572000" y="4215384"/>
            <a:ext cx="4297680" cy="566928"/>
          </a:xfrm>
          <a:prstGeom prst="rect">
            <a:avLst/>
          </a:prstGeom>
          <a:solidFill>
            <a:srgbClr val="111827"/>
          </a:solidFill>
          <a:ln w="6350">
            <a:solidFill>
              <a:srgbClr val="3D1515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44" name="Shape 42"/>
          <p:cNvSpPr/>
          <p:nvPr/>
        </p:nvSpPr>
        <p:spPr>
          <a:xfrm>
            <a:off x="4572000" y="4215384"/>
            <a:ext cx="45720" cy="566928"/>
          </a:xfrm>
          <a:prstGeom prst="rect">
            <a:avLst/>
          </a:prstGeom>
          <a:solidFill>
            <a:srgbClr val="E53E3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5" name="Text 43"/>
          <p:cNvSpPr/>
          <p:nvPr/>
        </p:nvSpPr>
        <p:spPr>
          <a:xfrm>
            <a:off x="4736592" y="4270248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1F5F9"/>
                </a:solidFill>
              </a:rPr>
              <a:t>Low conversion on free tier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4736592" y="4489704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Mitigation: Feature-gated free plan, aggressive onboarding email series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841248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15 / 16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91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-914400" y="-914400"/>
            <a:ext cx="5486400" cy="5486400"/>
          </a:xfrm>
          <a:prstGeom prst="ellipse">
            <a:avLst/>
          </a:prstGeom>
          <a:solidFill>
            <a:srgbClr val="6C63FF">
              <a:alpha val="8000"/>
            </a:srgbClr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Shape 2"/>
          <p:cNvSpPr/>
          <p:nvPr/>
        </p:nvSpPr>
        <p:spPr>
          <a:xfrm>
            <a:off x="5486400" y="1828800"/>
            <a:ext cx="4572000" cy="4572000"/>
          </a:xfrm>
          <a:prstGeom prst="ellipse">
            <a:avLst/>
          </a:prstGeom>
          <a:solidFill>
            <a:srgbClr val="0EA5E9">
              <a:alpha val="8000"/>
            </a:srgbClr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6C63F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find winning products.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8B8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Together.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1097280" y="2651760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</a:rPr>
              <a:t>AmazenLens is looking for its first investor partners who believe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</a:rPr>
              <a:t>that every Amazon seller deserves world-class research tools.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97280" y="3493008"/>
            <a:ext cx="2148840" cy="438912"/>
          </a:xfrm>
          <a:prstGeom prst="roundRect">
            <a:avLst>
              <a:gd name="adj" fmla="val 20833"/>
            </a:avLst>
          </a:prstGeom>
          <a:solidFill>
            <a:srgbClr val="111827"/>
          </a:solidFill>
          <a:ln w="12700">
            <a:solidFill>
              <a:srgbClr val="6C63F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1097280" y="349300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C63FF"/>
                </a:solidFill>
              </a:rPr>
              <a:t>📧  gokhan@amazenlens.com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474720" y="3493008"/>
            <a:ext cx="2148840" cy="438912"/>
          </a:xfrm>
          <a:prstGeom prst="roundRect">
            <a:avLst>
              <a:gd name="adj" fmla="val 20833"/>
            </a:avLst>
          </a:prstGeom>
          <a:solidFill>
            <a:srgbClr val="111827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3474720" y="349300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EA5E9"/>
                </a:solidFill>
              </a:rPr>
              <a:t>🌐  amazenlens.com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852160" y="3493008"/>
            <a:ext cx="2148840" cy="438912"/>
          </a:xfrm>
          <a:prstGeom prst="roundRect">
            <a:avLst>
              <a:gd name="adj" fmla="val 20833"/>
            </a:avLst>
          </a:prstGeom>
          <a:solidFill>
            <a:srgbClr val="111827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5852160" y="349300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2C55E"/>
                </a:solidFill>
              </a:rPr>
              <a:t>💬  Schedule a call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solidFill>
            <a:srgbClr val="030610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© 2025 AmazenLens  ·  Istanbul, Turkey  ·  Pre-Seed Round  ·  Confidential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1618</Words>
  <Application>Microsoft Office PowerPoint</Application>
  <PresentationFormat>Ekran Gösterisi (16:9)</PresentationFormat>
  <Paragraphs>396</Paragraphs>
  <Slides>16</Slides>
  <Notes>16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2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AmazenLens — Investor Pitch Deck 2025</dc:title>
  <dc:subject>PptxGenJS Presentation</dc:subject>
  <dc:creator>Gokhan</dc:creator>
  <cp:lastModifiedBy>Gökhan Ustaosmanoğlu</cp:lastModifiedBy>
  <cp:revision>1</cp:revision>
  <dcterms:created xsi:type="dcterms:W3CDTF">2026-03-18T09:07:09Z</dcterms:created>
  <dcterms:modified xsi:type="dcterms:W3CDTF">2026-03-18T09:13:33Z</dcterms:modified>
</cp:coreProperties>
</file>